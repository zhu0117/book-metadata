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70" r:id="rId8"/>
    <p:sldId id="258" r:id="rId9"/>
    <p:sldId id="259" r:id="rId10"/>
    <p:sldId id="260" r:id="rId11"/>
    <p:sldId id="261" r:id="rId12"/>
    <p:sldId id="262" r:id="rId13"/>
    <p:sldId id="263" r:id="rId14"/>
    <p:sldId id="264" r:id="rId15"/>
    <p:sldId id="265" r:id="rId16"/>
    <p:sldId id="267" r:id="rId17"/>
    <p:sldId id="268"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6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Today I'll be presenting our Book Metadata and Recommendation API project, which is a FastAPI-based system for managing book metadata, user authentication, and book recommendations.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project aims to create a comprehensive book metadata management system with intelligent recommendation capabilities. The system includes complete CRUD operations for books, user authentication, rating functionality, and a sophisticated recommendation system. We've built it using FastAPI for performance and automatic documentation, SQLite for data storage, and SQLAlchemy for database interactions.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project aims to create a comprehensive book metadata management system with intelligent recommendation capabilities. The system includes complete CRUD operations for books, user authentication, rating functionality, and a sophisticated recommendation system. We've built it using FastAPI for performance and automatic documentation, SQLite for data storage, and SQLAlchemy for database interactions.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implemented systematic version control using Git, with clear commit messages and regular updates. Our commit history shows the evolution of the project, from initial setup through core functionality implementation, to the addition of rating and recommendation systems, and finally deployment. This approach ensured we could track changes and maintain code quality throughout development.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system follows a clean, modular architecture. The FastAPI server handles client requests, routing them to appropriate endpoints.</a:t>
            </a:r>
            <a:endParaRPr lang="en-US" sz="1400" b="0" i="0" u="none" strike="noStrike">
              <a:solidFill>
                <a:srgbClr val="000000"/>
              </a:solidFill>
            </a:endParaRPr>
          </a:p>
          <a:p>
            <a:pPr indent="0" algn="l">
              <a:lnSpc>
                <a:spcPct val="100000"/>
              </a:lnSpc>
            </a:pPr>
            <a:r>
              <a:rPr lang="en-US" sz="1400" b="0" i="0" u="none" strike="noStrike">
                <a:solidFill>
                  <a:srgbClr val="000000"/>
                </a:solidFill>
              </a:rPr>
              <a:t>We've organized our code into clear layers: API endpoints, data models, and database interactions. This separation of concerns makes the codebase maintainable and scalable.</a:t>
            </a:r>
            <a:endParaRPr lang="en-US" sz="1400" b="0" i="0" u="none" strike="noStrike">
              <a:solidFill>
                <a:srgbClr val="000000"/>
              </a:solidFill>
            </a:endParaRPr>
          </a:p>
          <a:p>
            <a:pPr indent="0" algn="l">
              <a:lnSpc>
                <a:spcPct val="100000"/>
              </a:lnSpc>
            </a:pPr>
            <a:r>
              <a:rPr lang="en-US" sz="1400" b="0" i="0" u="none" strike="noStrike">
                <a:solidFill>
                  <a:srgbClr val="000000"/>
                </a:solidFill>
              </a:rPr>
              <a:t>The recommendation system is a key component, integrating multiple algorithms—popularity, author-based, and collaborative filtering—to provide personalized book suggestions to users.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FastAPI automatically generates interactive API documentation using Swagger UI. This documentation provides detailed information about all endpoints, including request parameters, response formats, and authentication requirements.</a:t>
            </a:r>
            <a:endParaRPr lang="en-US" sz="1400" b="0" i="0" u="none" strike="noStrike">
              <a:solidFill>
                <a:srgbClr val="000000"/>
              </a:solidFill>
            </a:endParaRPr>
          </a:p>
          <a:p>
            <a:pPr indent="0" algn="l">
              <a:lnSpc>
                <a:spcPct val="100000"/>
              </a:lnSpc>
            </a:pPr>
            <a:r>
              <a:rPr lang="en-US" sz="1400" b="0" i="0" u="none" strike="noStrike">
                <a:solidFill>
                  <a:srgbClr val="000000"/>
                </a:solidFill>
              </a:rPr>
              <a:t>We've organized our API into logical groups: books, authentication, ratings, and recommendations, making it easy for developers to understand and use the system.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data model design focuses on efficiency and relationships. We've created tables for books, authors, users, and ratings, with appropriate relationships between them. The many-to-many relationship between books and authors allows for accurate representation of collaborative works, while the rating system tracks user preferences for recommendation purposes.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recommendation system implements three complementary strategies. Popular books recommendation surfaces highly-rated titles with sufficient user feedback. Author-based recommendation suggests books by authors the user has enjoyed. Collaborative filtering finds similar users and recommends books they've liked. We've combined these approaches into a hybrid system that balances personalization and discovery.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technical report provides a comprehensive overview of the project, including the rationale behind our technology stack choices, system architecture design, data model implementation, recommendation system algorithms, GenAI usage declaration, and data source information. We've documented the entire development process, from initial planning through implementation and deployment.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We've successfully deployed our application to the Railway platform, making it accessible through the provided URL. Our testing strategy included comprehensive test cases covering CRUD operations, authentication flows, and recommendation functionality. All 10 test cases passed successfully, demonstrating the reliability of our system.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project deliverables include the GitHub code repository, interactive API documentation, technical report, and the deployed application. All components are complete and accessible, providing a comprehensive solution for book metadata management and recommendation.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conclusion, we've successfully implemented a comprehensive book metadata management and recommendation system. The project features a clean, modular architecture, secure authentication, and intelligent recommendation algorithms. With complete documentation and successful deployment, the system provides a solid foundation for future enhancements and demonstrates our ability to build production-ready API systems.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 you for your attention. I'm now open to any questions you may have about our Book Metadata and Recommendation API project.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0" Type="http://schemas.openxmlformats.org/officeDocument/2006/relationships/notesSlide" Target="../notesSlides/notesSlide5.xml"/><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24.png"/></Relationships>
</file>

<file path=ppt/slides/_rels/slide7.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25.svg"/><Relationship Id="rId16" Type="http://schemas.openxmlformats.org/officeDocument/2006/relationships/notesSlide" Target="../notesSlides/notesSlide7.xml"/><Relationship Id="rId15" Type="http://schemas.openxmlformats.org/officeDocument/2006/relationships/slideLayout" Target="../slideLayouts/slideLayout12.xml"/><Relationship Id="rId14" Type="http://schemas.openxmlformats.org/officeDocument/2006/relationships/image" Target="../media/image8.svg"/><Relationship Id="rId13" Type="http://schemas.openxmlformats.org/officeDocument/2006/relationships/image" Target="../media/image7.png"/><Relationship Id="rId12" Type="http://schemas.openxmlformats.org/officeDocument/2006/relationships/image" Target="../media/image42.svg"/><Relationship Id="rId11" Type="http://schemas.openxmlformats.org/officeDocument/2006/relationships/image" Target="../media/image41.png"/><Relationship Id="rId10" Type="http://schemas.openxmlformats.org/officeDocument/2006/relationships/image" Target="../media/image40.svg"/><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s>
</file>

<file path=ppt/slides/_rels/slide9.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 Id="rId3" Type="http://schemas.openxmlformats.org/officeDocument/2006/relationships/image" Target="../media/image51.png"/><Relationship Id="rId20" Type="http://schemas.openxmlformats.org/officeDocument/2006/relationships/notesSlide" Target="../notesSlides/notesSlide9.xml"/><Relationship Id="rId2" Type="http://schemas.openxmlformats.org/officeDocument/2006/relationships/image" Target="../media/image50.svg"/><Relationship Id="rId19" Type="http://schemas.openxmlformats.org/officeDocument/2006/relationships/slideLayout" Target="../slideLayouts/slideLayout12.xml"/><Relationship Id="rId18" Type="http://schemas.openxmlformats.org/officeDocument/2006/relationships/image" Target="../media/image25.svg"/><Relationship Id="rId17" Type="http://schemas.openxmlformats.org/officeDocument/2006/relationships/image" Target="../media/image24.png"/><Relationship Id="rId16" Type="http://schemas.openxmlformats.org/officeDocument/2006/relationships/image" Target="../media/image64.svg"/><Relationship Id="rId15" Type="http://schemas.openxmlformats.org/officeDocument/2006/relationships/image" Target="../media/image63.png"/><Relationship Id="rId14" Type="http://schemas.openxmlformats.org/officeDocument/2006/relationships/image" Target="../media/image62.svg"/><Relationship Id="rId13" Type="http://schemas.openxmlformats.org/officeDocument/2006/relationships/image" Target="../media/image61.png"/><Relationship Id="rId12" Type="http://schemas.openxmlformats.org/officeDocument/2006/relationships/image" Target="../media/image60.svg"/><Relationship Id="rId11" Type="http://schemas.openxmlformats.org/officeDocument/2006/relationships/image" Target="../media/image59.png"/><Relationship Id="rId10" Type="http://schemas.openxmlformats.org/officeDocument/2006/relationships/image" Target="../media/image58.svg"/><Relationship Id="rId1"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s>
</file>

<file path=ppt/slides/_rels/slide11.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image" Target="../media/image76.svg"/><Relationship Id="rId7" Type="http://schemas.openxmlformats.org/officeDocument/2006/relationships/image" Target="../media/image75.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72.svg"/><Relationship Id="rId3" Type="http://schemas.openxmlformats.org/officeDocument/2006/relationships/image" Target="../media/image71.png"/><Relationship Id="rId2" Type="http://schemas.openxmlformats.org/officeDocument/2006/relationships/image" Target="../media/image42.svg"/><Relationship Id="rId14" Type="http://schemas.openxmlformats.org/officeDocument/2006/relationships/notesSlide" Target="../notesSlides/notesSlide11.xml"/><Relationship Id="rId13" Type="http://schemas.openxmlformats.org/officeDocument/2006/relationships/slideLayout" Target="../slideLayouts/slideLayout12.xml"/><Relationship Id="rId12" Type="http://schemas.openxmlformats.org/officeDocument/2006/relationships/image" Target="../media/image70.svg"/><Relationship Id="rId11" Type="http://schemas.openxmlformats.org/officeDocument/2006/relationships/image" Target="../media/image69.png"/><Relationship Id="rId10" Type="http://schemas.openxmlformats.org/officeDocument/2006/relationships/image" Target="../media/image78.svg"/><Relationship Id="rId1" Type="http://schemas.openxmlformats.org/officeDocument/2006/relationships/image" Target="../media/image41.png"/></Relationships>
</file>

<file path=ppt/slides/_rels/slide12.xml.rels><?xml version="1.0" encoding="UTF-8" standalone="yes"?>
<Relationships xmlns="http://schemas.openxmlformats.org/package/2006/relationships"><Relationship Id="rId9" Type="http://schemas.openxmlformats.org/officeDocument/2006/relationships/image" Target="../media/image83.png"/><Relationship Id="rId8" Type="http://schemas.openxmlformats.org/officeDocument/2006/relationships/image" Target="../media/image82.svg"/><Relationship Id="rId7" Type="http://schemas.openxmlformats.org/officeDocument/2006/relationships/image" Target="../media/image81.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0.svg"/><Relationship Id="rId18" Type="http://schemas.openxmlformats.org/officeDocument/2006/relationships/notesSlide" Target="../notesSlides/notesSlide12.xml"/><Relationship Id="rId17" Type="http://schemas.openxmlformats.org/officeDocument/2006/relationships/slideLayout" Target="../slideLayouts/slideLayout12.xml"/><Relationship Id="rId16" Type="http://schemas.openxmlformats.org/officeDocument/2006/relationships/image" Target="../media/image19.svg"/><Relationship Id="rId15" Type="http://schemas.openxmlformats.org/officeDocument/2006/relationships/image" Target="../media/image18.png"/><Relationship Id="rId14" Type="http://schemas.openxmlformats.org/officeDocument/2006/relationships/image" Target="../media/image88.svg"/><Relationship Id="rId13" Type="http://schemas.openxmlformats.org/officeDocument/2006/relationships/image" Target="../media/image87.png"/><Relationship Id="rId12" Type="http://schemas.openxmlformats.org/officeDocument/2006/relationships/image" Target="../media/image86.svg"/><Relationship Id="rId11" Type="http://schemas.openxmlformats.org/officeDocument/2006/relationships/image" Target="../media/image85.png"/><Relationship Id="rId10" Type="http://schemas.openxmlformats.org/officeDocument/2006/relationships/image" Target="../media/image84.svg"/><Relationship Id="rId1" Type="http://schemas.openxmlformats.org/officeDocument/2006/relationships/image" Target="../media/image7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032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Poppins"/>
                <a:ea typeface="Poppins"/>
                <a:cs typeface="Poppins"/>
                <a:sym typeface="Poppins"/>
              </a:rPr>
              <a:t>Book Metadata and Recommendation API</a:t>
            </a:r>
            <a:endParaRPr lang="en-US" sz="1100"/>
          </a:p>
        </p:txBody>
      </p:sp>
      <p:sp>
        <p:nvSpPr>
          <p:cNvPr id="4" name="AutoShape 4"/>
          <p:cNvSpPr/>
          <p:nvPr/>
        </p:nvSpPr>
        <p:spPr>
          <a:xfrm>
            <a:off x="0" y="3175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spc="100">
                <a:solidFill>
                  <a:srgbClr val="FFFFFF">
                    <a:alpha val="90196"/>
                  </a:srgbClr>
                </a:solidFill>
                <a:latin typeface="Poppins"/>
                <a:ea typeface="Poppins"/>
                <a:cs typeface="Poppins"/>
                <a:sym typeface="Poppins"/>
              </a:rPr>
              <a:t>FastAPI-Based Book Management System</a:t>
            </a:r>
            <a:endParaRPr lang="en-US" sz="1100"/>
          </a:p>
        </p:txBody>
      </p:sp>
      <p:sp>
        <p:nvSpPr>
          <p:cNvPr id="5" name="AutoShape 5"/>
          <p:cNvSpPr/>
          <p:nvPr/>
        </p:nvSpPr>
        <p:spPr>
          <a:xfrm>
            <a:off x="5588000" y="4064000"/>
            <a:ext cx="1016000" cy="50800"/>
          </a:xfrm>
          <a:prstGeom prst="roundRect">
            <a:avLst>
              <a:gd name="adj" fmla="val 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57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alpha val="90196"/>
                  </a:srgbClr>
                </a:solidFill>
                <a:latin typeface="Poppins"/>
                <a:ea typeface="Poppins"/>
                <a:cs typeface="Poppins"/>
                <a:sym typeface="Poppins"/>
              </a:rPr>
              <a:t>H</a:t>
            </a:r>
            <a:r>
              <a:rPr lang="en-US" sz="1800" b="1" i="0" u="none" strike="noStrike">
                <a:solidFill>
                  <a:srgbClr val="FFFFFF">
                    <a:alpha val="90196"/>
                  </a:srgbClr>
                </a:solidFill>
                <a:latin typeface="Poppins"/>
                <a:ea typeface="Poppins"/>
                <a:cs typeface="Poppins"/>
                <a:sym typeface="Poppins"/>
              </a:rPr>
              <a:t>aoyu Zhu</a:t>
            </a:r>
            <a:endParaRPr lang="en-US" sz="1800" b="1" i="0" u="none" strike="noStrike">
              <a:solidFill>
                <a:srgbClr val="FFFFFF">
                  <a:alpha val="90196"/>
                </a:srgbClr>
              </a:solidFill>
              <a:latin typeface="Poppins"/>
              <a:ea typeface="Poppins"/>
              <a:cs typeface="Poppins"/>
              <a:sym typeface="Poppins"/>
            </a:endParaRPr>
          </a:p>
        </p:txBody>
      </p:sp>
      <p:sp>
        <p:nvSpPr>
          <p:cNvPr id="7" name="AutoShape 7"/>
          <p:cNvSpPr/>
          <p:nvPr/>
        </p:nvSpPr>
        <p:spPr>
          <a:xfrm>
            <a:off x="0" y="5207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200">
                <a:solidFill>
                  <a:srgbClr val="FFFFFF">
                    <a:alpha val="70196"/>
                  </a:srgbClr>
                </a:solidFill>
                <a:latin typeface="Poppins"/>
                <a:ea typeface="Poppins"/>
                <a:cs typeface="Poppins"/>
                <a:sym typeface="Poppins"/>
              </a:rPr>
              <a:t>APRIL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Project Overview</a:t>
            </a:r>
            <a:endParaRPr lang="en-US" sz="1100"/>
          </a:p>
        </p:txBody>
      </p:sp>
      <p:sp>
        <p:nvSpPr>
          <p:cNvPr id="3" name="AutoShape 3"/>
          <p:cNvSpPr/>
          <p:nvPr/>
        </p:nvSpPr>
        <p:spPr>
          <a:xfrm>
            <a:off x="762000" y="1397000"/>
            <a:ext cx="3302000" cy="4699000"/>
          </a:xfrm>
          <a:prstGeom prst="roundRect">
            <a:avLst>
              <a:gd name="adj" fmla="val 6153"/>
            </a:avLst>
          </a:prstGeom>
          <a:solidFill>
            <a:srgbClr val="FFFFFF">
              <a:alpha val="100000"/>
            </a:srgbClr>
          </a:solidFill>
          <a:ln w="25400" cap="flat" cmpd="sng">
            <a:noFill/>
            <a:prstDash val="solid"/>
            <a:round/>
          </a:ln>
          <a:effectLst>
            <a:outerShdw blurRad="190500" dist="635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905000" y="1778000"/>
            <a:ext cx="1016000" cy="1016000"/>
          </a:xfrm>
          <a:prstGeom prst="ellipse">
            <a:avLst/>
          </a:prstGeom>
          <a:solidFill>
            <a:srgbClr val="E0E5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59000" y="2032000"/>
            <a:ext cx="508000" cy="508000"/>
          </a:xfrm>
          <a:prstGeom prst="rect">
            <a:avLst/>
          </a:prstGeom>
        </p:spPr>
      </p:pic>
      <p:sp>
        <p:nvSpPr>
          <p:cNvPr id="6" name="AutoShape 6"/>
          <p:cNvSpPr/>
          <p:nvPr/>
        </p:nvSpPr>
        <p:spPr>
          <a:xfrm>
            <a:off x="889000" y="3048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5D52"/>
                </a:solidFill>
                <a:latin typeface="Arial" panose="020B0604020202020204" pitchFamily="34" charset="0"/>
                <a:ea typeface="Poppins"/>
                <a:cs typeface="Arial" panose="020B0604020202020204" pitchFamily="34" charset="0"/>
                <a:sym typeface="Poppins"/>
              </a:rPr>
              <a:t>Project Goal</a:t>
            </a:r>
            <a:endParaRPr lang="en-US" sz="20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7" name="AutoShape 7"/>
          <p:cNvSpPr/>
          <p:nvPr/>
        </p:nvSpPr>
        <p:spPr>
          <a:xfrm>
            <a:off x="2032000" y="3683000"/>
            <a:ext cx="762000" cy="38100"/>
          </a:xfrm>
          <a:prstGeom prst="roundRect">
            <a:avLst>
              <a:gd name="adj" fmla="val 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4191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555555"/>
                </a:solidFill>
                <a:latin typeface="Arial" panose="020B0604020202020204" pitchFamily="34" charset="0"/>
                <a:ea typeface="Poppins"/>
                <a:cs typeface="Arial" panose="020B0604020202020204" pitchFamily="34" charset="0"/>
                <a:sym typeface="Poppins"/>
              </a:rPr>
              <a:t>To build a comprehensive book metadata management and intelligent recommendation system for efficient data handling.</a:t>
            </a:r>
            <a:endParaRPr lang="en-US" sz="1600" b="0" i="0" u="none" strike="noStrike">
              <a:solidFill>
                <a:srgbClr val="555555"/>
              </a:solidFill>
              <a:latin typeface="Arial" panose="020B0604020202020204" pitchFamily="34" charset="0"/>
              <a:ea typeface="Poppins"/>
              <a:cs typeface="Arial" panose="020B0604020202020204" pitchFamily="34" charset="0"/>
              <a:sym typeface="Poppins"/>
            </a:endParaRPr>
          </a:p>
        </p:txBody>
      </p:sp>
      <p:sp>
        <p:nvSpPr>
          <p:cNvPr id="9" name="AutoShape 9"/>
          <p:cNvSpPr/>
          <p:nvPr/>
        </p:nvSpPr>
        <p:spPr>
          <a:xfrm>
            <a:off x="4445000" y="1397000"/>
            <a:ext cx="3302000" cy="4699000"/>
          </a:xfrm>
          <a:prstGeom prst="roundRect">
            <a:avLst>
              <a:gd name="adj" fmla="val 6153"/>
            </a:avLst>
          </a:prstGeom>
          <a:solidFill>
            <a:srgbClr val="FFFFFF">
              <a:alpha val="100000"/>
            </a:srgbClr>
          </a:solidFill>
          <a:ln w="25400" cap="flat" cmpd="sng">
            <a:noFill/>
            <a:prstDash val="solid"/>
            <a:round/>
          </a:ln>
          <a:effectLst>
            <a:outerShdw blurRad="190500" dist="63500" dir="54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5588000" y="1778000"/>
            <a:ext cx="1016000" cy="1016000"/>
          </a:xfrm>
          <a:prstGeom prst="ellipse">
            <a:avLst/>
          </a:prstGeom>
          <a:solidFill>
            <a:srgbClr val="E0E5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2032000"/>
            <a:ext cx="508000" cy="508000"/>
          </a:xfrm>
          <a:prstGeom prst="rect">
            <a:avLst/>
          </a:prstGeom>
        </p:spPr>
      </p:pic>
      <p:sp>
        <p:nvSpPr>
          <p:cNvPr id="12" name="AutoShape 12"/>
          <p:cNvSpPr/>
          <p:nvPr/>
        </p:nvSpPr>
        <p:spPr>
          <a:xfrm>
            <a:off x="4572000" y="3048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5D52"/>
                </a:solidFill>
                <a:latin typeface="Arial" panose="020B0604020202020204" pitchFamily="34" charset="0"/>
                <a:ea typeface="Poppins"/>
                <a:cs typeface="Arial" panose="020B0604020202020204" pitchFamily="34" charset="0"/>
                <a:sym typeface="Poppins"/>
              </a:rPr>
              <a:t>Core Features</a:t>
            </a:r>
            <a:endParaRPr lang="en-US" sz="20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13" name="AutoShape 13"/>
          <p:cNvSpPr/>
          <p:nvPr/>
        </p:nvSpPr>
        <p:spPr>
          <a:xfrm>
            <a:off x="5715000" y="3683000"/>
            <a:ext cx="762000" cy="38100"/>
          </a:xfrm>
          <a:prstGeom prst="roundRect">
            <a:avLst>
              <a:gd name="adj" fmla="val 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37405" y="4191000"/>
            <a:ext cx="3043555" cy="1905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b="0" i="0" u="none" strike="noStrike">
                <a:solidFill>
                  <a:srgbClr val="555555"/>
                </a:solidFill>
                <a:latin typeface="Arial" panose="020B0604020202020204" pitchFamily="34" charset="0"/>
                <a:ea typeface="Poppins"/>
                <a:cs typeface="Arial" panose="020B0604020202020204" pitchFamily="34" charset="0"/>
                <a:sym typeface="Poppins"/>
              </a:rPr>
              <a:t>• Complete CRUD operations for books</a:t>
            </a:r>
            <a:br>
              <a:rPr lang="en-US" b="0" i="0" u="none" strike="noStrike">
                <a:solidFill>
                  <a:srgbClr val="555555"/>
                </a:solidFill>
                <a:latin typeface="Arial" panose="020B0604020202020204" pitchFamily="34" charset="0"/>
                <a:ea typeface="Poppins"/>
                <a:cs typeface="Arial" panose="020B0604020202020204" pitchFamily="34" charset="0"/>
                <a:sym typeface="Poppins"/>
              </a:rPr>
            </a:br>
            <a:r>
              <a:rPr lang="en-US" b="0" i="0" u="none" strike="noStrike">
                <a:solidFill>
                  <a:srgbClr val="555555"/>
                </a:solidFill>
                <a:latin typeface="Arial" panose="020B0604020202020204" pitchFamily="34" charset="0"/>
                <a:ea typeface="Poppins"/>
                <a:cs typeface="Arial" panose="020B0604020202020204" pitchFamily="34" charset="0"/>
                <a:sym typeface="Poppins"/>
              </a:rPr>
              <a:t>• Secure user authentication system</a:t>
            </a:r>
            <a:br>
              <a:rPr lang="en-US" b="0" i="0" u="none" strike="noStrike">
                <a:solidFill>
                  <a:srgbClr val="555555"/>
                </a:solidFill>
                <a:latin typeface="Arial" panose="020B0604020202020204" pitchFamily="34" charset="0"/>
                <a:ea typeface="Poppins"/>
                <a:cs typeface="Arial" panose="020B0604020202020204" pitchFamily="34" charset="0"/>
                <a:sym typeface="Poppins"/>
              </a:rPr>
            </a:br>
            <a:r>
              <a:rPr lang="en-US" b="0" i="0" u="none" strike="noStrike">
                <a:solidFill>
                  <a:srgbClr val="555555"/>
                </a:solidFill>
                <a:latin typeface="Arial" panose="020B0604020202020204" pitchFamily="34" charset="0"/>
                <a:ea typeface="Poppins"/>
                <a:cs typeface="Arial" panose="020B0604020202020204" pitchFamily="34" charset="0"/>
                <a:sym typeface="Poppins"/>
              </a:rPr>
              <a:t>• Interactive book rating functionality</a:t>
            </a:r>
            <a:br>
              <a:rPr lang="en-US" b="0" i="0" u="none" strike="noStrike">
                <a:solidFill>
                  <a:srgbClr val="555555"/>
                </a:solidFill>
                <a:latin typeface="Arial" panose="020B0604020202020204" pitchFamily="34" charset="0"/>
                <a:ea typeface="Poppins"/>
                <a:cs typeface="Arial" panose="020B0604020202020204" pitchFamily="34" charset="0"/>
                <a:sym typeface="Poppins"/>
              </a:rPr>
            </a:br>
            <a:r>
              <a:rPr lang="en-US" b="0" i="0" u="none" strike="noStrike">
                <a:solidFill>
                  <a:srgbClr val="555555"/>
                </a:solidFill>
                <a:latin typeface="Arial" panose="020B0604020202020204" pitchFamily="34" charset="0"/>
                <a:ea typeface="Poppins"/>
                <a:cs typeface="Arial" panose="020B0604020202020204" pitchFamily="34" charset="0"/>
                <a:sym typeface="Poppins"/>
              </a:rPr>
              <a:t>• AI-powered intelligent recommendation</a:t>
            </a:r>
            <a:endParaRPr lang="en-US" b="0" i="0" u="none" strike="noStrike">
              <a:solidFill>
                <a:srgbClr val="555555"/>
              </a:solidFill>
              <a:latin typeface="Arial" panose="020B0604020202020204" pitchFamily="34" charset="0"/>
              <a:ea typeface="Poppins"/>
              <a:cs typeface="Arial" panose="020B0604020202020204" pitchFamily="34" charset="0"/>
              <a:sym typeface="Poppins"/>
            </a:endParaRPr>
          </a:p>
        </p:txBody>
      </p:sp>
      <p:sp>
        <p:nvSpPr>
          <p:cNvPr id="15" name="AutoShape 15"/>
          <p:cNvSpPr/>
          <p:nvPr/>
        </p:nvSpPr>
        <p:spPr>
          <a:xfrm>
            <a:off x="8128000" y="1397000"/>
            <a:ext cx="3302000" cy="4699000"/>
          </a:xfrm>
          <a:prstGeom prst="roundRect">
            <a:avLst>
              <a:gd name="adj" fmla="val 6153"/>
            </a:avLst>
          </a:prstGeom>
          <a:solidFill>
            <a:srgbClr val="FFFFFF">
              <a:alpha val="100000"/>
            </a:srgbClr>
          </a:solidFill>
          <a:ln w="25400" cap="flat" cmpd="sng">
            <a:noFill/>
            <a:prstDash val="solid"/>
            <a:round/>
          </a:ln>
          <a:effectLst>
            <a:outerShdw blurRad="190500" dist="63500" dir="5400000" algn="tl" rotWithShape="0">
              <a:srgbClr val="000000">
                <a:alpha val="6000"/>
              </a:srgbClr>
            </a:outerShdw>
          </a:effectLst>
        </p:spPr>
        <p:txBody>
          <a:bodyPr vert="horz" wrap="square" lIns="63500" tIns="63500" rIns="63500" bIns="63500" rtlCol="0" anchor="ctr"/>
          <a:lstStyle/>
          <a:p>
            <a:pPr algn="ctr">
              <a:defRPr/>
            </a:pPr>
          </a:p>
        </p:txBody>
      </p:sp>
      <p:sp>
        <p:nvSpPr>
          <p:cNvPr id="16" name="AutoShape 16"/>
          <p:cNvSpPr/>
          <p:nvPr/>
        </p:nvSpPr>
        <p:spPr>
          <a:xfrm>
            <a:off x="9271000" y="1778000"/>
            <a:ext cx="1016000" cy="1016000"/>
          </a:xfrm>
          <a:prstGeom prst="ellipse">
            <a:avLst/>
          </a:prstGeom>
          <a:solidFill>
            <a:srgbClr val="E0E5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2032000"/>
            <a:ext cx="508000" cy="508000"/>
          </a:xfrm>
          <a:prstGeom prst="rect">
            <a:avLst/>
          </a:prstGeom>
        </p:spPr>
      </p:pic>
      <p:sp>
        <p:nvSpPr>
          <p:cNvPr id="18" name="AutoShape 18"/>
          <p:cNvSpPr/>
          <p:nvPr/>
        </p:nvSpPr>
        <p:spPr>
          <a:xfrm>
            <a:off x="8255000" y="3048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5D52"/>
                </a:solidFill>
                <a:latin typeface="Arial" panose="020B0604020202020204" pitchFamily="34" charset="0"/>
                <a:ea typeface="Poppins"/>
                <a:cs typeface="Arial" panose="020B0604020202020204" pitchFamily="34" charset="0"/>
                <a:sym typeface="Poppins"/>
              </a:rPr>
              <a:t>Tech Stack</a:t>
            </a:r>
            <a:endParaRPr lang="en-US" sz="20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19" name="AutoShape 19"/>
          <p:cNvSpPr/>
          <p:nvPr/>
        </p:nvSpPr>
        <p:spPr>
          <a:xfrm>
            <a:off x="9271000" y="3683000"/>
            <a:ext cx="762000" cy="38100"/>
          </a:xfrm>
          <a:prstGeom prst="roundRect">
            <a:avLst>
              <a:gd name="adj" fmla="val 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509000" y="4254500"/>
            <a:ext cx="2413000" cy="457200"/>
          </a:xfrm>
          <a:prstGeom prst="roundRect">
            <a:avLst>
              <a:gd name="adj" fmla="val 22222"/>
            </a:avLst>
          </a:prstGeom>
          <a:solidFill>
            <a:srgbClr val="EBEE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509000" y="4254500"/>
            <a:ext cx="2413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5D52"/>
                </a:solidFill>
                <a:latin typeface="Arial" panose="020B0604020202020204" pitchFamily="34" charset="0"/>
                <a:ea typeface="Poppins"/>
                <a:cs typeface="Arial" panose="020B0604020202020204" pitchFamily="34" charset="0"/>
                <a:sym typeface="Poppins"/>
              </a:rPr>
              <a:t>FastAPI (Backend)</a:t>
            </a:r>
            <a:endParaRPr lang="en-US" sz="16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22" name="AutoShape 22"/>
          <p:cNvSpPr/>
          <p:nvPr/>
        </p:nvSpPr>
        <p:spPr>
          <a:xfrm>
            <a:off x="8509000" y="4889500"/>
            <a:ext cx="2413000" cy="457200"/>
          </a:xfrm>
          <a:prstGeom prst="roundRect">
            <a:avLst>
              <a:gd name="adj" fmla="val 22222"/>
            </a:avLst>
          </a:prstGeom>
          <a:solidFill>
            <a:srgbClr val="EBEE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509000" y="4889500"/>
            <a:ext cx="2413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5D52"/>
                </a:solidFill>
                <a:latin typeface="Arial" panose="020B0604020202020204" pitchFamily="34" charset="0"/>
                <a:ea typeface="Poppins"/>
                <a:cs typeface="Arial" panose="020B0604020202020204" pitchFamily="34" charset="0"/>
                <a:sym typeface="Poppins"/>
              </a:rPr>
              <a:t>SQLite (Database)</a:t>
            </a:r>
            <a:endParaRPr lang="en-US" sz="16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24" name="AutoShape 24"/>
          <p:cNvSpPr/>
          <p:nvPr/>
        </p:nvSpPr>
        <p:spPr>
          <a:xfrm>
            <a:off x="8509000" y="5524500"/>
            <a:ext cx="2413000" cy="457200"/>
          </a:xfrm>
          <a:prstGeom prst="roundRect">
            <a:avLst>
              <a:gd name="adj" fmla="val 22222"/>
            </a:avLst>
          </a:prstGeom>
          <a:solidFill>
            <a:srgbClr val="EBEE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509000" y="5524500"/>
            <a:ext cx="2413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5D52"/>
                </a:solidFill>
                <a:latin typeface="Arial" panose="020B0604020202020204" pitchFamily="34" charset="0"/>
                <a:ea typeface="Poppins"/>
                <a:cs typeface="Arial" panose="020B0604020202020204" pitchFamily="34" charset="0"/>
                <a:sym typeface="Poppins"/>
              </a:rPr>
              <a:t>SQLAlchemy &amp; Pydantic</a:t>
            </a:r>
            <a:endParaRPr lang="en-US" sz="16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a:solidFill>
                  <a:srgbClr val="4A5D52"/>
                </a:solidFill>
                <a:latin typeface="Poppins"/>
                <a:ea typeface="Poppins"/>
                <a:cs typeface="Poppins"/>
              </a:rPr>
              <a:t>Technical Stack</a:t>
            </a:r>
            <a:endParaRPr lang="en-US" sz="3200" b="1">
              <a:solidFill>
                <a:srgbClr val="4A5D52"/>
              </a:solidFill>
              <a:latin typeface="Poppins"/>
              <a:ea typeface="Poppins"/>
              <a:cs typeface="Poppins"/>
            </a:endParaRPr>
          </a:p>
        </p:txBody>
      </p:sp>
      <p:sp>
        <p:nvSpPr>
          <p:cNvPr id="3" name="AutoShape 3"/>
          <p:cNvSpPr/>
          <p:nvPr/>
        </p:nvSpPr>
        <p:spPr>
          <a:xfrm>
            <a:off x="762000" y="1397000"/>
            <a:ext cx="3302000" cy="4699000"/>
          </a:xfrm>
          <a:prstGeom prst="roundRect">
            <a:avLst>
              <a:gd name="adj" fmla="val 6153"/>
            </a:avLst>
          </a:prstGeom>
          <a:solidFill>
            <a:srgbClr val="FFFFFF">
              <a:alpha val="100000"/>
            </a:srgbClr>
          </a:solidFill>
          <a:ln w="25400" cap="flat" cmpd="sng">
            <a:noFill/>
            <a:prstDash val="solid"/>
            <a:round/>
          </a:ln>
          <a:effectLst>
            <a:outerShdw blurRad="190500" dist="63500" dir="5400000" algn="tl" rotWithShape="0">
              <a:srgbClr val="000000">
                <a:alpha val="6000"/>
              </a:srgbClr>
            </a:outerShdw>
          </a:effectLst>
        </p:spPr>
        <p:txBody>
          <a:bodyPr vert="horz" wrap="square" lIns="63500" tIns="63500" rIns="63500" bIns="63500" rtlCol="0" anchor="ctr"/>
          <a:lstStyle/>
          <a:p>
            <a:pPr algn="l">
              <a:lnSpc>
                <a:spcPct val="120000"/>
              </a:lnSpc>
              <a:defRPr/>
            </a:pPr>
            <a:r>
              <a:rPr lang="en-US" altLang="zh-CN" sz="1800"/>
              <a:t>- FastAPI (Python)</a:t>
            </a:r>
            <a:endParaRPr lang="en-US" altLang="zh-CN" sz="1800"/>
          </a:p>
          <a:p>
            <a:pPr algn="l">
              <a:lnSpc>
                <a:spcPct val="120000"/>
              </a:lnSpc>
              <a:defRPr/>
            </a:pPr>
            <a:r>
              <a:rPr lang="en-US" altLang="zh-CN" sz="1800"/>
              <a:t>- SQLAlchemy (ORM)</a:t>
            </a:r>
            <a:endParaRPr lang="en-US" altLang="zh-CN" sz="1800"/>
          </a:p>
          <a:p>
            <a:pPr algn="l">
              <a:lnSpc>
                <a:spcPct val="120000"/>
              </a:lnSpc>
              <a:defRPr/>
            </a:pPr>
            <a:r>
              <a:rPr lang="en-US" altLang="zh-CN" sz="1800"/>
              <a:t>- SQLite / PostgreSQL (Database)</a:t>
            </a:r>
            <a:endParaRPr lang="en-US" altLang="zh-CN" sz="1800"/>
          </a:p>
          <a:p>
            <a:pPr algn="l">
              <a:lnSpc>
                <a:spcPct val="120000"/>
              </a:lnSpc>
              <a:defRPr/>
            </a:pPr>
            <a:r>
              <a:rPr lang="en-US" altLang="zh-CN" sz="1800"/>
              <a:t>- Pydantic (Data Validation)</a:t>
            </a:r>
            <a:endParaRPr lang="en-US" altLang="zh-CN" sz="1800"/>
          </a:p>
          <a:p>
            <a:pPr algn="l">
              <a:defRPr/>
            </a:pPr>
            <a:endParaRPr lang="en-US" altLang="zh-CN" sz="1800"/>
          </a:p>
        </p:txBody>
      </p:sp>
      <p:sp>
        <p:nvSpPr>
          <p:cNvPr id="6" name="AutoShape 6"/>
          <p:cNvSpPr/>
          <p:nvPr/>
        </p:nvSpPr>
        <p:spPr>
          <a:xfrm>
            <a:off x="1016000" y="2349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2000" b="1" i="0" u="none" strike="noStrike">
                <a:solidFill>
                  <a:srgbClr val="4A5D52"/>
                </a:solidFill>
                <a:latin typeface="Arial" panose="020B0604020202020204" pitchFamily="34" charset="0"/>
                <a:ea typeface="Poppins"/>
                <a:cs typeface="Arial" panose="020B0604020202020204" pitchFamily="34" charset="0"/>
                <a:sym typeface="Poppins"/>
              </a:rPr>
              <a:t>Backend:</a:t>
            </a:r>
            <a:endParaRPr lang="en-US" altLang="zh-CN" sz="20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9" name="AutoShape 9"/>
          <p:cNvSpPr/>
          <p:nvPr/>
        </p:nvSpPr>
        <p:spPr>
          <a:xfrm>
            <a:off x="4445000" y="1397000"/>
            <a:ext cx="3302000" cy="4699000"/>
          </a:xfrm>
          <a:prstGeom prst="roundRect">
            <a:avLst>
              <a:gd name="adj" fmla="val 6153"/>
            </a:avLst>
          </a:prstGeom>
          <a:solidFill>
            <a:srgbClr val="FFFFFF">
              <a:alpha val="100000"/>
            </a:srgbClr>
          </a:solidFill>
          <a:ln w="25400" cap="flat" cmpd="sng">
            <a:noFill/>
            <a:prstDash val="solid"/>
            <a:round/>
          </a:ln>
          <a:effectLst>
            <a:outerShdw blurRad="190500" dist="63500" dir="5400000" algn="tl" rotWithShape="0">
              <a:srgbClr val="000000">
                <a:alpha val="6000"/>
              </a:srgbClr>
            </a:outerShdw>
          </a:effectLst>
        </p:spPr>
        <p:txBody>
          <a:bodyPr vert="horz" wrap="square" lIns="63500" tIns="63500" rIns="63500" bIns="63500" rtlCol="0" anchor="ctr"/>
          <a:lstStyle/>
          <a:p>
            <a:pPr algn="l">
              <a:defRPr/>
            </a:pPr>
            <a:r>
              <a:rPr lang="en-US" altLang="zh-CN" sz="1800"/>
              <a:t>- JWT Authentication</a:t>
            </a:r>
            <a:endParaRPr lang="en-US" altLang="zh-CN" sz="1800"/>
          </a:p>
          <a:p>
            <a:pPr algn="l">
              <a:defRPr/>
            </a:pPr>
            <a:r>
              <a:rPr lang="en-US" altLang="zh-CN" sz="1800"/>
              <a:t>- Password Hashing</a:t>
            </a:r>
            <a:endParaRPr lang="en-US" altLang="zh-CN" sz="1800"/>
          </a:p>
          <a:p>
            <a:pPr algn="l">
              <a:defRPr/>
            </a:pPr>
          </a:p>
        </p:txBody>
      </p:sp>
      <p:sp>
        <p:nvSpPr>
          <p:cNvPr id="12" name="AutoShape 12"/>
          <p:cNvSpPr/>
          <p:nvPr/>
        </p:nvSpPr>
        <p:spPr>
          <a:xfrm>
            <a:off x="4572000" y="2349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2000" b="1" i="0" u="none" strike="noStrike">
                <a:solidFill>
                  <a:srgbClr val="4A5D52"/>
                </a:solidFill>
                <a:latin typeface="Arial" panose="020B0604020202020204" pitchFamily="34" charset="0"/>
                <a:ea typeface="Poppins"/>
                <a:cs typeface="Arial" panose="020B0604020202020204" pitchFamily="34" charset="0"/>
                <a:sym typeface="Poppins"/>
              </a:rPr>
              <a:t>Security:</a:t>
            </a:r>
            <a:endParaRPr lang="en-US" altLang="zh-CN" sz="20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
        <p:nvSpPr>
          <p:cNvPr id="15" name="AutoShape 15"/>
          <p:cNvSpPr/>
          <p:nvPr/>
        </p:nvSpPr>
        <p:spPr>
          <a:xfrm>
            <a:off x="8128000" y="1397000"/>
            <a:ext cx="3302000" cy="4699000"/>
          </a:xfrm>
          <a:prstGeom prst="roundRect">
            <a:avLst>
              <a:gd name="adj" fmla="val 6153"/>
            </a:avLst>
          </a:prstGeom>
          <a:solidFill>
            <a:srgbClr val="FFFFFF">
              <a:alpha val="100000"/>
            </a:srgbClr>
          </a:solidFill>
          <a:ln w="25400" cap="flat" cmpd="sng">
            <a:noFill/>
            <a:prstDash val="solid"/>
            <a:round/>
          </a:ln>
          <a:effectLst>
            <a:outerShdw blurRad="190500" dist="63500" dir="5400000" algn="tl" rotWithShape="0">
              <a:srgbClr val="000000">
                <a:alpha val="6000"/>
              </a:srgbClr>
            </a:outerShdw>
          </a:effectLst>
        </p:spPr>
        <p:txBody>
          <a:bodyPr vert="horz" wrap="square" lIns="63500" tIns="63500" rIns="63500" bIns="63500" rtlCol="0" anchor="ctr"/>
          <a:lstStyle/>
          <a:p>
            <a:pPr algn="l">
              <a:buSzTx/>
              <a:buNone/>
              <a:defRPr/>
            </a:pPr>
            <a:r>
              <a:rPr lang="en-US" altLang="zh-CN" sz="1800"/>
              <a:t>- Railway Platform</a:t>
            </a:r>
            <a:endParaRPr lang="en-US" altLang="zh-CN" sz="1800"/>
          </a:p>
          <a:p>
            <a:pPr algn="l">
              <a:buSzTx/>
              <a:buNone/>
              <a:defRPr/>
            </a:pPr>
            <a:r>
              <a:rPr lang="en-US" altLang="zh-CN" sz="1800"/>
              <a:t>- Continuous Integration</a:t>
            </a:r>
            <a:endParaRPr lang="en-US" altLang="zh-CN" sz="1800"/>
          </a:p>
          <a:p>
            <a:pPr algn="l">
              <a:buSzTx/>
              <a:buNone/>
              <a:defRPr/>
            </a:pPr>
          </a:p>
        </p:txBody>
      </p:sp>
      <p:sp>
        <p:nvSpPr>
          <p:cNvPr id="18" name="AutoShape 18"/>
          <p:cNvSpPr/>
          <p:nvPr/>
        </p:nvSpPr>
        <p:spPr>
          <a:xfrm>
            <a:off x="8255000" y="2349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2000" b="1" i="0" u="none" strike="noStrike">
                <a:solidFill>
                  <a:srgbClr val="4A5D52"/>
                </a:solidFill>
                <a:latin typeface="Arial" panose="020B0604020202020204" pitchFamily="34" charset="0"/>
                <a:ea typeface="Poppins"/>
                <a:cs typeface="Arial" panose="020B0604020202020204" pitchFamily="34" charset="0"/>
                <a:sym typeface="Poppins"/>
              </a:rPr>
              <a:t>Deployment:</a:t>
            </a:r>
            <a:endParaRPr lang="en-US" altLang="zh-CN" sz="2000" b="1" i="0" u="none" strike="noStrike">
              <a:solidFill>
                <a:srgbClr val="4A5D52"/>
              </a:solidFill>
              <a:latin typeface="Arial" panose="020B0604020202020204" pitchFamily="34" charset="0"/>
              <a:ea typeface="Poppins"/>
              <a:cs typeface="Arial" panose="020B0604020202020204" pitchFamily="34" charset="0"/>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Version Control Practices</a:t>
            </a:r>
            <a:endParaRPr lang="en-US" sz="1100"/>
          </a:p>
        </p:txBody>
      </p:sp>
      <p:sp>
        <p:nvSpPr>
          <p:cNvPr id="3" name="AutoShape 3"/>
          <p:cNvSpPr/>
          <p:nvPr/>
        </p:nvSpPr>
        <p:spPr>
          <a:xfrm>
            <a:off x="762000" y="1397000"/>
            <a:ext cx="3302000" cy="4826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79500" y="1714500"/>
            <a:ext cx="711200" cy="711200"/>
          </a:xfrm>
          <a:prstGeom prst="ellipse">
            <a:avLst/>
          </a:prstGeom>
          <a:solidFill>
            <a:srgbClr val="E8ECE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31900" y="1866900"/>
            <a:ext cx="406400" cy="406400"/>
          </a:xfrm>
          <a:prstGeom prst="rect">
            <a:avLst/>
          </a:prstGeom>
        </p:spPr>
      </p:pic>
      <p:sp>
        <p:nvSpPr>
          <p:cNvPr id="6" name="AutoShape 6"/>
          <p:cNvSpPr/>
          <p:nvPr/>
        </p:nvSpPr>
        <p:spPr>
          <a:xfrm>
            <a:off x="2032000" y="18161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Git Core</a:t>
            </a:r>
            <a:br>
              <a:rPr lang="en-US" sz="1800" b="1" i="0" u="none" strike="noStrike">
                <a:solidFill>
                  <a:srgbClr val="4A5D52"/>
                </a:solidFill>
                <a:latin typeface="Poppins"/>
                <a:ea typeface="Poppins"/>
                <a:cs typeface="Poppins"/>
                <a:sym typeface="Poppins"/>
              </a:rPr>
            </a:br>
            <a:r>
              <a:rPr lang="en-US" sz="1800" b="1" i="0" u="none" strike="noStrike">
                <a:solidFill>
                  <a:srgbClr val="4A5D52"/>
                </a:solidFill>
                <a:latin typeface="Poppins"/>
                <a:ea typeface="Poppins"/>
                <a:cs typeface="Poppins"/>
                <a:sym typeface="Poppins"/>
              </a:rPr>
              <a:t>Practices</a:t>
            </a:r>
            <a:endParaRPr lang="en-US" sz="1100"/>
          </a:p>
        </p:txBody>
      </p:sp>
      <p:cxnSp>
        <p:nvCxnSpPr>
          <p:cNvPr id="7" name="Connector 7"/>
          <p:cNvCxnSpPr/>
          <p:nvPr/>
        </p:nvCxnSpPr>
        <p:spPr>
          <a:xfrm rot="-16370">
            <a:off x="1079515" y="2660650"/>
            <a:ext cx="2667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8" name="AutoShape 8"/>
          <p:cNvSpPr/>
          <p:nvPr/>
        </p:nvSpPr>
        <p:spPr>
          <a:xfrm>
            <a:off x="1079500" y="3048000"/>
            <a:ext cx="2667000" cy="762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251200"/>
            <a:ext cx="304800" cy="304800"/>
          </a:xfrm>
          <a:prstGeom prst="rect">
            <a:avLst/>
          </a:prstGeom>
        </p:spPr>
      </p:pic>
      <p:sp>
        <p:nvSpPr>
          <p:cNvPr id="10" name="AutoShape 10"/>
          <p:cNvSpPr/>
          <p:nvPr/>
        </p:nvSpPr>
        <p:spPr>
          <a:xfrm>
            <a:off x="1651000" y="3200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Standardized commit messages for clarity</a:t>
            </a:r>
            <a:endParaRPr lang="en-US" sz="1100"/>
          </a:p>
        </p:txBody>
      </p:sp>
      <p:sp>
        <p:nvSpPr>
          <p:cNvPr id="11" name="AutoShape 11"/>
          <p:cNvSpPr/>
          <p:nvPr/>
        </p:nvSpPr>
        <p:spPr>
          <a:xfrm>
            <a:off x="1079500" y="4064000"/>
            <a:ext cx="2667000" cy="762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267200"/>
            <a:ext cx="304800" cy="304800"/>
          </a:xfrm>
          <a:prstGeom prst="rect">
            <a:avLst/>
          </a:prstGeom>
        </p:spPr>
      </p:pic>
      <p:sp>
        <p:nvSpPr>
          <p:cNvPr id="13" name="AutoShape 13"/>
          <p:cNvSpPr/>
          <p:nvPr/>
        </p:nvSpPr>
        <p:spPr>
          <a:xfrm>
            <a:off x="1651000" y="4216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Regular incremental code pushes to remote</a:t>
            </a:r>
            <a:endParaRPr lang="en-US" sz="1100"/>
          </a:p>
        </p:txBody>
      </p:sp>
      <p:sp>
        <p:nvSpPr>
          <p:cNvPr id="14" name="AutoShape 14"/>
          <p:cNvSpPr/>
          <p:nvPr/>
        </p:nvSpPr>
        <p:spPr>
          <a:xfrm>
            <a:off x="1079500" y="5080000"/>
            <a:ext cx="2667000" cy="762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5283200"/>
            <a:ext cx="304800" cy="304800"/>
          </a:xfrm>
          <a:prstGeom prst="rect">
            <a:avLst/>
          </a:prstGeom>
        </p:spPr>
      </p:pic>
      <p:sp>
        <p:nvSpPr>
          <p:cNvPr id="16" name="AutoShape 16"/>
          <p:cNvSpPr/>
          <p:nvPr/>
        </p:nvSpPr>
        <p:spPr>
          <a:xfrm>
            <a:off x="1651000" y="5232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Structured branch management workflow</a:t>
            </a:r>
            <a:endParaRPr lang="en-US" sz="1100"/>
          </a:p>
        </p:txBody>
      </p:sp>
      <p:sp>
        <p:nvSpPr>
          <p:cNvPr id="17" name="AutoShape 17"/>
          <p:cNvSpPr/>
          <p:nvPr/>
        </p:nvSpPr>
        <p:spPr>
          <a:xfrm>
            <a:off x="4445000" y="1397000"/>
            <a:ext cx="3302000" cy="4826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4762500" y="1714500"/>
            <a:ext cx="711200" cy="711200"/>
          </a:xfrm>
          <a:prstGeom prst="ellipse">
            <a:avLst/>
          </a:prstGeom>
          <a:solidFill>
            <a:srgbClr val="E8ECE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4900" y="1866900"/>
            <a:ext cx="406400" cy="406400"/>
          </a:xfrm>
          <a:prstGeom prst="rect">
            <a:avLst/>
          </a:prstGeom>
        </p:spPr>
      </p:pic>
      <p:sp>
        <p:nvSpPr>
          <p:cNvPr id="20" name="AutoShape 20"/>
          <p:cNvSpPr/>
          <p:nvPr/>
        </p:nvSpPr>
        <p:spPr>
          <a:xfrm>
            <a:off x="5715000" y="18161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Commit</a:t>
            </a:r>
            <a:br>
              <a:rPr lang="en-US" sz="1800" b="1" i="0" u="none" strike="noStrike">
                <a:solidFill>
                  <a:srgbClr val="4A5D52"/>
                </a:solidFill>
                <a:latin typeface="Poppins"/>
                <a:ea typeface="Poppins"/>
                <a:cs typeface="Poppins"/>
                <a:sym typeface="Poppins"/>
              </a:rPr>
            </a:br>
            <a:r>
              <a:rPr lang="en-US" sz="1800" b="1" i="0" u="none" strike="noStrike">
                <a:solidFill>
                  <a:srgbClr val="4A5D52"/>
                </a:solidFill>
                <a:latin typeface="Poppins"/>
                <a:ea typeface="Poppins"/>
                <a:cs typeface="Poppins"/>
                <a:sym typeface="Poppins"/>
              </a:rPr>
              <a:t>Timeline</a:t>
            </a:r>
            <a:endParaRPr lang="en-US" sz="1100"/>
          </a:p>
        </p:txBody>
      </p:sp>
      <p:cxnSp>
        <p:nvCxnSpPr>
          <p:cNvPr id="21" name="Connector 21"/>
          <p:cNvCxnSpPr/>
          <p:nvPr/>
        </p:nvCxnSpPr>
        <p:spPr>
          <a:xfrm rot="-16370">
            <a:off x="4762515" y="2660650"/>
            <a:ext cx="2667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22" name="Connector 22"/>
          <p:cNvCxnSpPr/>
          <p:nvPr/>
        </p:nvCxnSpPr>
        <p:spPr>
          <a:xfrm rot="5383629">
            <a:off x="3619500" y="4375165"/>
            <a:ext cx="2667000" cy="12700"/>
          </a:xfrm>
          <a:prstGeom prst="straightConnector1">
            <a:avLst/>
          </a:prstGeom>
          <a:solidFill>
            <a:srgbClr val="DEE0E3">
              <a:alpha val="100000"/>
            </a:srgbClr>
          </a:solidFill>
          <a:ln w="25400" cap="flat" cmpd="sng">
            <a:solidFill>
              <a:srgbClr val="D2D2D2">
                <a:alpha val="100000"/>
              </a:srgbClr>
            </a:solidFill>
            <a:prstDash val="solid"/>
            <a:round/>
            <a:headEnd type="none" w="lg" len="lg"/>
            <a:tailEnd type="none" w="lg" len="lg"/>
          </a:ln>
        </p:spPr>
      </p:cxnSp>
      <p:sp>
        <p:nvSpPr>
          <p:cNvPr id="23" name="AutoShape 23"/>
          <p:cNvSpPr/>
          <p:nvPr/>
        </p:nvSpPr>
        <p:spPr>
          <a:xfrm>
            <a:off x="4876800" y="3111500"/>
            <a:ext cx="152400" cy="1524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5207000" y="3048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5D52"/>
                </a:solidFill>
                <a:latin typeface="Poppins"/>
                <a:ea typeface="Poppins"/>
                <a:cs typeface="Poppins"/>
                <a:sym typeface="Poppins"/>
              </a:rPr>
              <a:t>Initial Commit:</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environment setup</a:t>
            </a:r>
            <a:endParaRPr lang="en-US" sz="1100"/>
          </a:p>
        </p:txBody>
      </p:sp>
      <p:sp>
        <p:nvSpPr>
          <p:cNvPr id="25" name="AutoShape 25"/>
          <p:cNvSpPr/>
          <p:nvPr/>
        </p:nvSpPr>
        <p:spPr>
          <a:xfrm>
            <a:off x="4876800" y="3746500"/>
            <a:ext cx="152400" cy="1524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5207000" y="3683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5D52"/>
                </a:solidFill>
                <a:latin typeface="Poppins"/>
                <a:ea typeface="Poppins"/>
                <a:cs typeface="Poppins"/>
                <a:sym typeface="Poppins"/>
              </a:rPr>
              <a:t>Apr. 10-12:</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feature implementation</a:t>
            </a:r>
            <a:endParaRPr lang="en-US" sz="1100"/>
          </a:p>
        </p:txBody>
      </p:sp>
      <p:sp>
        <p:nvSpPr>
          <p:cNvPr id="27" name="AutoShape 27"/>
          <p:cNvSpPr/>
          <p:nvPr/>
        </p:nvSpPr>
        <p:spPr>
          <a:xfrm>
            <a:off x="4876800" y="4381500"/>
            <a:ext cx="152400" cy="1524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5207000" y="4318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5D52"/>
                </a:solidFill>
                <a:latin typeface="Poppins"/>
                <a:ea typeface="Poppins"/>
                <a:cs typeface="Poppins"/>
                <a:sym typeface="Poppins"/>
              </a:rPr>
              <a:t>Apr. 15:</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Added rating &amp; recommendation</a:t>
            </a:r>
            <a:endParaRPr lang="en-US" sz="1100"/>
          </a:p>
        </p:txBody>
      </p:sp>
      <p:sp>
        <p:nvSpPr>
          <p:cNvPr id="29" name="AutoShape 29"/>
          <p:cNvSpPr/>
          <p:nvPr/>
        </p:nvSpPr>
        <p:spPr>
          <a:xfrm>
            <a:off x="4876800" y="5080000"/>
            <a:ext cx="152400" cy="1524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5207000" y="50165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5D52"/>
                </a:solidFill>
                <a:latin typeface="Poppins"/>
                <a:ea typeface="Poppins"/>
                <a:cs typeface="Poppins"/>
                <a:sym typeface="Poppins"/>
              </a:rPr>
              <a:t>Apr. 17-18:</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Docs, AI declaration &amp; final deployment</a:t>
            </a:r>
            <a:endParaRPr lang="en-US" sz="1100"/>
          </a:p>
        </p:txBody>
      </p:sp>
      <p:sp>
        <p:nvSpPr>
          <p:cNvPr id="32" name="AutoShape 32"/>
          <p:cNvSpPr/>
          <p:nvPr/>
        </p:nvSpPr>
        <p:spPr>
          <a:xfrm>
            <a:off x="8445500" y="1714500"/>
            <a:ext cx="711200" cy="711200"/>
          </a:xfrm>
          <a:prstGeom prst="ellipse">
            <a:avLst/>
          </a:prstGeom>
          <a:solidFill>
            <a:srgbClr val="E8ECE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97900" y="1866900"/>
            <a:ext cx="406400" cy="406400"/>
          </a:xfrm>
          <a:prstGeom prst="rect">
            <a:avLst/>
          </a:prstGeom>
        </p:spPr>
      </p:pic>
      <p:sp>
        <p:nvSpPr>
          <p:cNvPr id="34" name="AutoShape 34"/>
          <p:cNvSpPr/>
          <p:nvPr/>
        </p:nvSpPr>
        <p:spPr>
          <a:xfrm>
            <a:off x="9398000" y="18161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Branch</a:t>
            </a:r>
            <a:br>
              <a:rPr lang="en-US" sz="1800" b="1" i="0" u="none" strike="noStrike">
                <a:solidFill>
                  <a:srgbClr val="4A5D52"/>
                </a:solidFill>
                <a:latin typeface="Poppins"/>
                <a:ea typeface="Poppins"/>
                <a:cs typeface="Poppins"/>
                <a:sym typeface="Poppins"/>
              </a:rPr>
            </a:br>
            <a:r>
              <a:rPr lang="en-US" sz="1800" b="1" i="0" u="none" strike="noStrike">
                <a:solidFill>
                  <a:srgbClr val="4A5D52"/>
                </a:solidFill>
                <a:latin typeface="Poppins"/>
                <a:ea typeface="Poppins"/>
                <a:cs typeface="Poppins"/>
                <a:sym typeface="Poppins"/>
              </a:rPr>
              <a:t>Strategy</a:t>
            </a:r>
            <a:endParaRPr lang="en-US" sz="1100"/>
          </a:p>
        </p:txBody>
      </p:sp>
      <p:cxnSp>
        <p:nvCxnSpPr>
          <p:cNvPr id="35" name="Connector 35"/>
          <p:cNvCxnSpPr/>
          <p:nvPr/>
        </p:nvCxnSpPr>
        <p:spPr>
          <a:xfrm rot="-16370">
            <a:off x="8445515" y="2660650"/>
            <a:ext cx="2667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39" name="图片 38"/>
          <p:cNvPicPr>
            <a:picLocks noChangeAspect="1"/>
          </p:cNvPicPr>
          <p:nvPr/>
        </p:nvPicPr>
        <p:blipFill>
          <a:blip r:embed="rId9"/>
          <a:stretch>
            <a:fillRect/>
          </a:stretch>
        </p:blipFill>
        <p:spPr>
          <a:xfrm>
            <a:off x="8445500" y="943610"/>
            <a:ext cx="3168650" cy="52793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System Architecture</a:t>
            </a:r>
            <a:endParaRPr lang="en-US" sz="1100"/>
          </a:p>
        </p:txBody>
      </p:sp>
      <p:sp>
        <p:nvSpPr>
          <p:cNvPr id="3" name="AutoShape 3"/>
          <p:cNvSpPr/>
          <p:nvPr/>
        </p:nvSpPr>
        <p:spPr>
          <a:xfrm>
            <a:off x="762000" y="1397000"/>
            <a:ext cx="4318000" cy="4826000"/>
          </a:xfrm>
          <a:prstGeom prst="roundRect">
            <a:avLst>
              <a:gd name="adj" fmla="val 3529"/>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A5D52"/>
                </a:solidFill>
                <a:latin typeface="Poppins"/>
                <a:ea typeface="Poppins"/>
                <a:cs typeface="Poppins"/>
                <a:sym typeface="Poppins"/>
              </a:rPr>
              <a:t>Architecture Flow Chart</a:t>
            </a:r>
            <a:endParaRPr lang="en-US" sz="1100"/>
          </a:p>
        </p:txBody>
      </p:sp>
      <p:sp>
        <p:nvSpPr>
          <p:cNvPr id="5" name="AutoShape 5"/>
          <p:cNvSpPr/>
          <p:nvPr/>
        </p:nvSpPr>
        <p:spPr>
          <a:xfrm>
            <a:off x="1143000" y="2286000"/>
            <a:ext cx="3556000" cy="711200"/>
          </a:xfrm>
          <a:prstGeom prst="roundRect">
            <a:avLst>
              <a:gd name="adj" fmla="val 14285"/>
            </a:avLst>
          </a:prstGeom>
          <a:solidFill>
            <a:srgbClr val="4A5D5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Poppins"/>
                <a:ea typeface="Poppins"/>
                <a:cs typeface="Poppins"/>
                <a:sym typeface="Poppins"/>
              </a:rPr>
              <a:t>Client Application (Input/View)</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667000" y="3098800"/>
            <a:ext cx="304800" cy="304800"/>
          </a:xfrm>
          <a:prstGeom prst="rect">
            <a:avLst/>
          </a:prstGeom>
        </p:spPr>
      </p:pic>
      <p:sp>
        <p:nvSpPr>
          <p:cNvPr id="7" name="AutoShape 7"/>
          <p:cNvSpPr/>
          <p:nvPr/>
        </p:nvSpPr>
        <p:spPr>
          <a:xfrm>
            <a:off x="1143000" y="3505200"/>
            <a:ext cx="3556000" cy="711200"/>
          </a:xfrm>
          <a:prstGeom prst="roundRect">
            <a:avLst>
              <a:gd name="adj" fmla="val 14285"/>
            </a:avLst>
          </a:prstGeom>
          <a:solidFill>
            <a:srgbClr val="4A5D5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Poppins"/>
                <a:ea typeface="Poppins"/>
                <a:cs typeface="Poppins"/>
                <a:sym typeface="Poppins"/>
              </a:rPr>
              <a:t>FastAPI Server (Request Handler)</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667000" y="4318000"/>
            <a:ext cx="304800" cy="304800"/>
          </a:xfrm>
          <a:prstGeom prst="rect">
            <a:avLst/>
          </a:prstGeom>
        </p:spPr>
      </p:pic>
      <p:sp>
        <p:nvSpPr>
          <p:cNvPr id="9" name="AutoShape 9"/>
          <p:cNvSpPr/>
          <p:nvPr/>
        </p:nvSpPr>
        <p:spPr>
          <a:xfrm>
            <a:off x="1143000" y="4724400"/>
            <a:ext cx="3556000" cy="711200"/>
          </a:xfrm>
          <a:prstGeom prst="roundRect">
            <a:avLst>
              <a:gd name="adj" fmla="val 14285"/>
            </a:avLst>
          </a:prstGeom>
          <a:solidFill>
            <a:srgbClr val="4A5D5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Poppins"/>
                <a:ea typeface="Poppins"/>
                <a:cs typeface="Poppins"/>
                <a:sym typeface="Poppins"/>
              </a:rPr>
              <a:t>Logic Layer (Endpoints &amp; Models)</a:t>
            </a:r>
            <a:endParaRPr lang="en-US" sz="1100"/>
          </a:p>
        </p:txBody>
      </p:sp>
      <p:sp>
        <p:nvSpPr>
          <p:cNvPr id="11" name="AutoShape 11"/>
          <p:cNvSpPr/>
          <p:nvPr/>
        </p:nvSpPr>
        <p:spPr>
          <a:xfrm>
            <a:off x="5334000" y="1397000"/>
            <a:ext cx="6096000" cy="1397000"/>
          </a:xfrm>
          <a:prstGeom prst="roundRect">
            <a:avLst>
              <a:gd name="adj" fmla="val 10909"/>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2" name="AutoShape 12"/>
          <p:cNvSpPr/>
          <p:nvPr/>
        </p:nvSpPr>
        <p:spPr>
          <a:xfrm>
            <a:off x="5334000" y="1587500"/>
            <a:ext cx="76200" cy="1016000"/>
          </a:xfrm>
          <a:prstGeom prst="roundRect">
            <a:avLst>
              <a:gd name="adj" fmla="val 5000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1714500"/>
            <a:ext cx="609600" cy="609600"/>
          </a:xfrm>
          <a:prstGeom prst="rect">
            <a:avLst/>
          </a:prstGeom>
        </p:spPr>
      </p:pic>
      <p:sp>
        <p:nvSpPr>
          <p:cNvPr id="14" name="AutoShape 14"/>
          <p:cNvSpPr/>
          <p:nvPr/>
        </p:nvSpPr>
        <p:spPr>
          <a:xfrm>
            <a:off x="6477000" y="1587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API Endpoints (Core Routes)</a:t>
            </a:r>
            <a:endParaRPr lang="en-US" sz="1100"/>
          </a:p>
        </p:txBody>
      </p:sp>
      <p:sp>
        <p:nvSpPr>
          <p:cNvPr id="15" name="AutoShape 15"/>
          <p:cNvSpPr/>
          <p:nvPr/>
        </p:nvSpPr>
        <p:spPr>
          <a:xfrm>
            <a:off x="6477000" y="2032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Modular routes for handling user requests: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Books</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(CRUD),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Auth</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(Login/Signup),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Ratings</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(Interaction), and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Recommendations</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(Personalization).</a:t>
            </a:r>
            <a:endParaRPr lang="en-US" sz="1100"/>
          </a:p>
        </p:txBody>
      </p:sp>
      <p:sp>
        <p:nvSpPr>
          <p:cNvPr id="16" name="AutoShape 16"/>
          <p:cNvSpPr/>
          <p:nvPr/>
        </p:nvSpPr>
        <p:spPr>
          <a:xfrm>
            <a:off x="5334000" y="3048000"/>
            <a:ext cx="6096000" cy="1397000"/>
          </a:xfrm>
          <a:prstGeom prst="roundRect">
            <a:avLst>
              <a:gd name="adj" fmla="val 10909"/>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7" name="AutoShape 17"/>
          <p:cNvSpPr/>
          <p:nvPr/>
        </p:nvSpPr>
        <p:spPr>
          <a:xfrm>
            <a:off x="5334000" y="3238500"/>
            <a:ext cx="76200" cy="1016000"/>
          </a:xfrm>
          <a:prstGeom prst="roundRect">
            <a:avLst>
              <a:gd name="adj" fmla="val 5000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51500" y="3365500"/>
            <a:ext cx="609600" cy="609600"/>
          </a:xfrm>
          <a:prstGeom prst="rect">
            <a:avLst/>
          </a:prstGeom>
        </p:spPr>
      </p:pic>
      <p:sp>
        <p:nvSpPr>
          <p:cNvPr id="19" name="AutoShape 19"/>
          <p:cNvSpPr/>
          <p:nvPr/>
        </p:nvSpPr>
        <p:spPr>
          <a:xfrm>
            <a:off x="6477000" y="3238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Data Models (Database Schema)</a:t>
            </a:r>
            <a:endParaRPr lang="en-US" sz="1100"/>
          </a:p>
        </p:txBody>
      </p:sp>
      <p:sp>
        <p:nvSpPr>
          <p:cNvPr id="20" name="AutoShape 20"/>
          <p:cNvSpPr/>
          <p:nvPr/>
        </p:nvSpPr>
        <p:spPr>
          <a:xfrm>
            <a:off x="6477000" y="3683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ORM-defined schemas representing core entities:</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Book</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Author</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User</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and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Rating</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Maps directly to PostgreSQL tables for efficient data persistence and retrieval.</a:t>
            </a:r>
            <a:endParaRPr lang="en-US" sz="1100"/>
          </a:p>
        </p:txBody>
      </p:sp>
      <p:sp>
        <p:nvSpPr>
          <p:cNvPr id="21" name="AutoShape 21"/>
          <p:cNvSpPr/>
          <p:nvPr/>
        </p:nvSpPr>
        <p:spPr>
          <a:xfrm>
            <a:off x="5334000" y="4699000"/>
            <a:ext cx="6096000" cy="1397000"/>
          </a:xfrm>
          <a:prstGeom prst="roundRect">
            <a:avLst>
              <a:gd name="adj" fmla="val 10909"/>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5334000" y="4889500"/>
            <a:ext cx="76200" cy="1016000"/>
          </a:xfrm>
          <a:prstGeom prst="roundRect">
            <a:avLst>
              <a:gd name="adj" fmla="val 5000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1500" y="5016500"/>
            <a:ext cx="609600" cy="609600"/>
          </a:xfrm>
          <a:prstGeom prst="rect">
            <a:avLst/>
          </a:prstGeom>
        </p:spPr>
      </p:pic>
      <p:sp>
        <p:nvSpPr>
          <p:cNvPr id="24" name="AutoShape 24"/>
          <p:cNvSpPr/>
          <p:nvPr/>
        </p:nvSpPr>
        <p:spPr>
          <a:xfrm>
            <a:off x="6477000" y="4889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Recommendation Engine (Algorithms)</a:t>
            </a:r>
            <a:endParaRPr lang="en-US" sz="1100"/>
          </a:p>
        </p:txBody>
      </p:sp>
      <p:sp>
        <p:nvSpPr>
          <p:cNvPr id="25" name="AutoShape 25"/>
          <p:cNvSpPr/>
          <p:nvPr/>
        </p:nvSpPr>
        <p:spPr>
          <a:xfrm>
            <a:off x="6477000" y="5334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Hybrid approach combining: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Popularity-based</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(trending),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Author-based</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(similar writers), and </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Collaborative Filtering</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(user similarity) for accurate suggestions.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API Documentation</a:t>
            </a:r>
            <a:endParaRPr lang="en-US" sz="1100"/>
          </a:p>
        </p:txBody>
      </p:sp>
      <p:sp>
        <p:nvSpPr>
          <p:cNvPr id="3" name="AutoShape 3"/>
          <p:cNvSpPr/>
          <p:nvPr/>
        </p:nvSpPr>
        <p:spPr>
          <a:xfrm>
            <a:off x="762000" y="1397000"/>
            <a:ext cx="4826000" cy="2921000"/>
          </a:xfrm>
          <a:prstGeom prst="roundRect">
            <a:avLst>
              <a:gd name="adj" fmla="val 521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Main Endpoints</a:t>
            </a:r>
            <a:endParaRPr lang="en-US" sz="1100"/>
          </a:p>
        </p:txBody>
      </p:sp>
      <p:sp>
        <p:nvSpPr>
          <p:cNvPr id="5" name="AutoShape 5"/>
          <p:cNvSpPr/>
          <p:nvPr/>
        </p:nvSpPr>
        <p:spPr>
          <a:xfrm>
            <a:off x="1016000" y="2286000"/>
            <a:ext cx="4318000" cy="508000"/>
          </a:xfrm>
          <a:prstGeom prst="roundRect">
            <a:avLst>
              <a:gd name="adj" fmla="val 20000"/>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387600"/>
            <a:ext cx="304800" cy="304800"/>
          </a:xfrm>
          <a:prstGeom prst="rect">
            <a:avLst/>
          </a:prstGeom>
        </p:spPr>
      </p:pic>
      <p:sp>
        <p:nvSpPr>
          <p:cNvPr id="7" name="AutoShape 7"/>
          <p:cNvSpPr/>
          <p:nvPr/>
        </p:nvSpPr>
        <p:spPr>
          <a:xfrm>
            <a:off x="1714500" y="23622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Book Management:</a:t>
            </a:r>
            <a:r>
              <a:rPr lang="en-US" sz="1200" b="0" i="0" u="none" strike="noStrike">
                <a:solidFill>
                  <a:srgbClr val="666666"/>
                </a:solidFill>
                <a:latin typeface="Poppins"/>
                <a:ea typeface="Poppins"/>
                <a:cs typeface="Poppins"/>
                <a:sym typeface="Poppins"/>
              </a:rPr>
              <a:t>/api/books/</a:t>
            </a:r>
            <a:endParaRPr lang="en-US" sz="1100"/>
          </a:p>
        </p:txBody>
      </p:sp>
      <p:sp>
        <p:nvSpPr>
          <p:cNvPr id="8" name="AutoShape 8"/>
          <p:cNvSpPr/>
          <p:nvPr/>
        </p:nvSpPr>
        <p:spPr>
          <a:xfrm>
            <a:off x="1016000" y="2921000"/>
            <a:ext cx="4318000" cy="508000"/>
          </a:xfrm>
          <a:prstGeom prst="roundRect">
            <a:avLst>
              <a:gd name="adj" fmla="val 20000"/>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022600"/>
            <a:ext cx="304800" cy="304800"/>
          </a:xfrm>
          <a:prstGeom prst="rect">
            <a:avLst/>
          </a:prstGeom>
        </p:spPr>
      </p:pic>
      <p:sp>
        <p:nvSpPr>
          <p:cNvPr id="10" name="AutoShape 10"/>
          <p:cNvSpPr/>
          <p:nvPr/>
        </p:nvSpPr>
        <p:spPr>
          <a:xfrm>
            <a:off x="1714500" y="29972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User Auth:</a:t>
            </a:r>
            <a:r>
              <a:rPr lang="en-US" sz="1200" b="0" i="0" u="none" strike="noStrike">
                <a:solidFill>
                  <a:srgbClr val="666666"/>
                </a:solidFill>
                <a:latin typeface="Poppins"/>
                <a:ea typeface="Poppins"/>
                <a:cs typeface="Poppins"/>
                <a:sym typeface="Poppins"/>
              </a:rPr>
              <a:t>/api/auth/</a:t>
            </a:r>
            <a:endParaRPr lang="en-US" sz="1100"/>
          </a:p>
        </p:txBody>
      </p:sp>
      <p:sp>
        <p:nvSpPr>
          <p:cNvPr id="11" name="AutoShape 11"/>
          <p:cNvSpPr/>
          <p:nvPr/>
        </p:nvSpPr>
        <p:spPr>
          <a:xfrm>
            <a:off x="1016000" y="3556000"/>
            <a:ext cx="4318000" cy="508000"/>
          </a:xfrm>
          <a:prstGeom prst="roundRect">
            <a:avLst>
              <a:gd name="adj" fmla="val 20000"/>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3657600"/>
            <a:ext cx="304800" cy="304800"/>
          </a:xfrm>
          <a:prstGeom prst="rect">
            <a:avLst/>
          </a:prstGeom>
        </p:spPr>
      </p:pic>
      <p:sp>
        <p:nvSpPr>
          <p:cNvPr id="13" name="AutoShape 13"/>
          <p:cNvSpPr/>
          <p:nvPr/>
        </p:nvSpPr>
        <p:spPr>
          <a:xfrm>
            <a:off x="1714500" y="36322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Rating System:</a:t>
            </a:r>
            <a:r>
              <a:rPr lang="en-US" sz="1200" b="0" i="0" u="none" strike="noStrike">
                <a:solidFill>
                  <a:srgbClr val="666666"/>
                </a:solidFill>
                <a:latin typeface="Poppins"/>
                <a:ea typeface="Poppins"/>
                <a:cs typeface="Poppins"/>
                <a:sym typeface="Poppins"/>
              </a:rPr>
              <a:t>/api/ratings/</a:t>
            </a:r>
            <a:endParaRPr lang="en-US" sz="1100"/>
          </a:p>
        </p:txBody>
      </p:sp>
      <p:sp>
        <p:nvSpPr>
          <p:cNvPr id="14" name="AutoShape 14"/>
          <p:cNvSpPr/>
          <p:nvPr/>
        </p:nvSpPr>
        <p:spPr>
          <a:xfrm>
            <a:off x="762000" y="4572000"/>
            <a:ext cx="4826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1016000" y="4826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Live Deployment URL</a:t>
            </a:r>
            <a:endParaRPr lang="en-US" sz="1100"/>
          </a:p>
        </p:txBody>
      </p:sp>
      <p:sp>
        <p:nvSpPr>
          <p:cNvPr id="16" name="AutoShape 16"/>
          <p:cNvSpPr/>
          <p:nvPr/>
        </p:nvSpPr>
        <p:spPr>
          <a:xfrm>
            <a:off x="1016000" y="5334000"/>
            <a:ext cx="4318000" cy="508000"/>
          </a:xfrm>
          <a:prstGeom prst="roundRect">
            <a:avLst>
              <a:gd name="adj" fmla="val 20000"/>
            </a:avLst>
          </a:prstGeom>
          <a:solidFill>
            <a:srgbClr val="4A5D52">
              <a:alpha val="8000"/>
            </a:srgbClr>
          </a:solidFill>
          <a:ln w="12700" cap="flat" cmpd="sng">
            <a:solidFill>
              <a:srgbClr val="4A5D52">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5435600"/>
            <a:ext cx="304800" cy="304800"/>
          </a:xfrm>
          <a:prstGeom prst="rect">
            <a:avLst/>
          </a:prstGeom>
        </p:spPr>
      </p:pic>
      <p:sp>
        <p:nvSpPr>
          <p:cNvPr id="18" name="AutoShape 18"/>
          <p:cNvSpPr/>
          <p:nvPr/>
        </p:nvSpPr>
        <p:spPr>
          <a:xfrm>
            <a:off x="1651000" y="54356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t>https://book-metadata-production.up.railway.app/docs</a:t>
            </a:r>
            <a:endParaRPr lang="en-US" altLang="zh-CN" sz="1100"/>
          </a:p>
        </p:txBody>
      </p:sp>
      <p:sp>
        <p:nvSpPr>
          <p:cNvPr id="19" name="AutoShape 19"/>
          <p:cNvSpPr/>
          <p:nvPr/>
        </p:nvSpPr>
        <p:spPr>
          <a:xfrm>
            <a:off x="5842000" y="1397000"/>
            <a:ext cx="5588000" cy="4699000"/>
          </a:xfrm>
          <a:prstGeom prst="roundRect">
            <a:avLst>
              <a:gd name="adj" fmla="val 3243"/>
            </a:avLst>
          </a:prstGeom>
          <a:solidFill>
            <a:srgbClr val="FFFFFF">
              <a:alpha val="100000"/>
            </a:srgbClr>
          </a:solidFill>
          <a:ln w="25400" cap="flat" cmpd="sng">
            <a:noFill/>
            <a:prstDash val="solid"/>
            <a:round/>
          </a:ln>
          <a:effectLst>
            <a:outerShdw blurRad="304800" dist="76200" dir="2700000" algn="tl" rotWithShape="0">
              <a:srgbClr val="000000">
                <a:alpha val="12000"/>
              </a:srgbClr>
            </a:outerShdw>
          </a:effectLst>
        </p:spPr>
        <p:txBody>
          <a:bodyPr vert="horz" wrap="square" lIns="63500" tIns="63500" rIns="63500" bIns="63500" rtlCol="0" anchor="ctr"/>
          <a:lstStyle/>
          <a:p>
            <a:pPr algn="ctr">
              <a:defRPr/>
            </a:pPr>
          </a:p>
        </p:txBody>
      </p:sp>
      <p:sp>
        <p:nvSpPr>
          <p:cNvPr id="20" name="AutoShape 20"/>
          <p:cNvSpPr/>
          <p:nvPr/>
        </p:nvSpPr>
        <p:spPr>
          <a:xfrm>
            <a:off x="6096000" y="1651000"/>
            <a:ext cx="5080000" cy="4191000"/>
          </a:xfrm>
          <a:prstGeom prst="roundRect">
            <a:avLst>
              <a:gd name="adj" fmla="val 2424"/>
            </a:avLst>
          </a:prstGeom>
          <a:solidFill>
            <a:srgbClr val="E6E8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图片 22"/>
          <p:cNvPicPr>
            <a:picLocks noChangeAspect="1"/>
          </p:cNvPicPr>
          <p:nvPr/>
        </p:nvPicPr>
        <p:blipFill>
          <a:blip r:embed="rId9"/>
          <a:stretch>
            <a:fillRect/>
          </a:stretch>
        </p:blipFill>
        <p:spPr>
          <a:xfrm>
            <a:off x="6096000" y="1601470"/>
            <a:ext cx="5079365" cy="4314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Data Model Design</a:t>
            </a:r>
            <a:endParaRPr lang="en-US" sz="1100"/>
          </a:p>
        </p:txBody>
      </p:sp>
      <p:sp>
        <p:nvSpPr>
          <p:cNvPr id="3" name="AutoShape 3"/>
          <p:cNvSpPr/>
          <p:nvPr/>
        </p:nvSpPr>
        <p:spPr>
          <a:xfrm>
            <a:off x="762000" y="1397000"/>
            <a:ext cx="5207000" cy="4953000"/>
          </a:xfrm>
          <a:prstGeom prst="roundRect">
            <a:avLst>
              <a:gd name="adj" fmla="val 3076"/>
            </a:avLst>
          </a:prstGeom>
          <a:solidFill>
            <a:srgbClr val="FFFFFF">
              <a:alpha val="100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5D52"/>
                </a:solidFill>
                <a:latin typeface="Poppins"/>
                <a:ea typeface="Poppins"/>
                <a:cs typeface="Poppins"/>
                <a:sym typeface="Poppins"/>
              </a:rPr>
              <a:t>Database Schema Definition</a:t>
            </a:r>
            <a:endParaRPr lang="en-US" sz="1100"/>
          </a:p>
        </p:txBody>
      </p:sp>
      <p:sp>
        <p:nvSpPr>
          <p:cNvPr id="5" name="AutoShape 5"/>
          <p:cNvSpPr/>
          <p:nvPr/>
        </p:nvSpPr>
        <p:spPr>
          <a:xfrm>
            <a:off x="1016000" y="2286000"/>
            <a:ext cx="4699000" cy="1016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540000"/>
            <a:ext cx="508000" cy="508000"/>
          </a:xfrm>
          <a:prstGeom prst="rect">
            <a:avLst/>
          </a:prstGeom>
        </p:spPr>
      </p:pic>
      <p:sp>
        <p:nvSpPr>
          <p:cNvPr id="7" name="AutoShape 7"/>
          <p:cNvSpPr/>
          <p:nvPr/>
        </p:nvSpPr>
        <p:spPr>
          <a:xfrm>
            <a:off x="1905000" y="24130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Poppins"/>
                <a:ea typeface="Poppins"/>
                <a:cs typeface="Poppins"/>
                <a:sym typeface="Poppins"/>
              </a:rPr>
              <a:t>books Table (Core Entity)</a:t>
            </a:r>
            <a:endParaRPr lang="en-US" sz="1100"/>
          </a:p>
        </p:txBody>
      </p:sp>
      <p:sp>
        <p:nvSpPr>
          <p:cNvPr id="8" name="AutoShape 8"/>
          <p:cNvSpPr/>
          <p:nvPr/>
        </p:nvSpPr>
        <p:spPr>
          <a:xfrm>
            <a:off x="1905000" y="2794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Poppins"/>
                <a:ea typeface="Poppins"/>
                <a:cs typeface="Poppins"/>
                <a:sym typeface="Poppins"/>
              </a:rPr>
              <a:t>id, title, isbn, publication_year, cover_url, language_code, average_rating, rating_count</a:t>
            </a:r>
            <a:endParaRPr lang="en-US" sz="1100"/>
          </a:p>
        </p:txBody>
      </p:sp>
      <p:sp>
        <p:nvSpPr>
          <p:cNvPr id="9" name="AutoShape 9"/>
          <p:cNvSpPr/>
          <p:nvPr/>
        </p:nvSpPr>
        <p:spPr>
          <a:xfrm>
            <a:off x="1016000" y="3429000"/>
            <a:ext cx="4699000" cy="889000"/>
          </a:xfrm>
          <a:prstGeom prst="roundRect">
            <a:avLst>
              <a:gd name="adj" fmla="val 1142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619500"/>
            <a:ext cx="508000" cy="508000"/>
          </a:xfrm>
          <a:prstGeom prst="rect">
            <a:avLst/>
          </a:prstGeom>
        </p:spPr>
      </p:pic>
      <p:sp>
        <p:nvSpPr>
          <p:cNvPr id="11" name="AutoShape 11"/>
          <p:cNvSpPr/>
          <p:nvPr/>
        </p:nvSpPr>
        <p:spPr>
          <a:xfrm>
            <a:off x="1905000" y="3556000"/>
            <a:ext cx="3683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Poppins"/>
                <a:ea typeface="Poppins"/>
                <a:cs typeface="Poppins"/>
                <a:sym typeface="Poppins"/>
              </a:rPr>
              <a:t>authors Table (Creator)</a:t>
            </a:r>
            <a:endParaRPr lang="en-US" sz="1100"/>
          </a:p>
        </p:txBody>
      </p:sp>
      <p:sp>
        <p:nvSpPr>
          <p:cNvPr id="12" name="AutoShape 12"/>
          <p:cNvSpPr/>
          <p:nvPr/>
        </p:nvSpPr>
        <p:spPr>
          <a:xfrm>
            <a:off x="1905000" y="3911600"/>
            <a:ext cx="368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Fields: id (PK), name (full author name)</a:t>
            </a:r>
            <a:endParaRPr lang="en-US" sz="1100"/>
          </a:p>
        </p:txBody>
      </p:sp>
      <p:sp>
        <p:nvSpPr>
          <p:cNvPr id="13" name="AutoShape 13"/>
          <p:cNvSpPr/>
          <p:nvPr/>
        </p:nvSpPr>
        <p:spPr>
          <a:xfrm>
            <a:off x="1016000" y="4445000"/>
            <a:ext cx="4699000" cy="889000"/>
          </a:xfrm>
          <a:prstGeom prst="roundRect">
            <a:avLst>
              <a:gd name="adj" fmla="val 1142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4635500"/>
            <a:ext cx="508000" cy="508000"/>
          </a:xfrm>
          <a:prstGeom prst="rect">
            <a:avLst/>
          </a:prstGeom>
        </p:spPr>
      </p:pic>
      <p:sp>
        <p:nvSpPr>
          <p:cNvPr id="15" name="AutoShape 15"/>
          <p:cNvSpPr/>
          <p:nvPr/>
        </p:nvSpPr>
        <p:spPr>
          <a:xfrm>
            <a:off x="1905000" y="4572000"/>
            <a:ext cx="3683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Poppins"/>
                <a:ea typeface="Poppins"/>
                <a:cs typeface="Poppins"/>
                <a:sym typeface="Poppins"/>
              </a:rPr>
              <a:t>users Table (Consumer)</a:t>
            </a:r>
            <a:endParaRPr lang="en-US" sz="1100"/>
          </a:p>
        </p:txBody>
      </p:sp>
      <p:sp>
        <p:nvSpPr>
          <p:cNvPr id="16" name="AutoShape 16"/>
          <p:cNvSpPr/>
          <p:nvPr/>
        </p:nvSpPr>
        <p:spPr>
          <a:xfrm>
            <a:off x="1905000" y="4927600"/>
            <a:ext cx="368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Fields: id (PK), username, email, password_hash</a:t>
            </a:r>
            <a:endParaRPr lang="en-US" sz="1100"/>
          </a:p>
        </p:txBody>
      </p:sp>
      <p:sp>
        <p:nvSpPr>
          <p:cNvPr id="17" name="AutoShape 17"/>
          <p:cNvSpPr/>
          <p:nvPr/>
        </p:nvSpPr>
        <p:spPr>
          <a:xfrm>
            <a:off x="1016000" y="5461000"/>
            <a:ext cx="4699000" cy="889000"/>
          </a:xfrm>
          <a:prstGeom prst="roundRect">
            <a:avLst>
              <a:gd name="adj" fmla="val 1142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5651500"/>
            <a:ext cx="508000" cy="508000"/>
          </a:xfrm>
          <a:prstGeom prst="rect">
            <a:avLst/>
          </a:prstGeom>
        </p:spPr>
      </p:pic>
      <p:sp>
        <p:nvSpPr>
          <p:cNvPr id="19" name="AutoShape 19"/>
          <p:cNvSpPr/>
          <p:nvPr/>
        </p:nvSpPr>
        <p:spPr>
          <a:xfrm>
            <a:off x="1905000" y="5588000"/>
            <a:ext cx="3683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74151"/>
                </a:solidFill>
                <a:latin typeface="Poppins"/>
                <a:ea typeface="Poppins"/>
                <a:cs typeface="Poppins"/>
                <a:sym typeface="Poppins"/>
              </a:rPr>
              <a:t>ratings Table (Interaction)</a:t>
            </a:r>
            <a:endParaRPr lang="en-US" sz="1100"/>
          </a:p>
        </p:txBody>
      </p:sp>
      <p:sp>
        <p:nvSpPr>
          <p:cNvPr id="20" name="AutoShape 20"/>
          <p:cNvSpPr/>
          <p:nvPr/>
        </p:nvSpPr>
        <p:spPr>
          <a:xfrm>
            <a:off x="1905000" y="5943600"/>
            <a:ext cx="368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Fields: id (PK), user_id (FK), book_id (FK), rating</a:t>
            </a:r>
            <a:endParaRPr lang="en-US" sz="1100"/>
          </a:p>
        </p:txBody>
      </p:sp>
      <p:sp>
        <p:nvSpPr>
          <p:cNvPr id="21" name="AutoShape 21"/>
          <p:cNvSpPr/>
          <p:nvPr/>
        </p:nvSpPr>
        <p:spPr>
          <a:xfrm>
            <a:off x="6223000" y="1397000"/>
            <a:ext cx="5207000" cy="4953000"/>
          </a:xfrm>
          <a:prstGeom prst="roundRect">
            <a:avLst>
              <a:gd name="adj" fmla="val 3076"/>
            </a:avLst>
          </a:prstGeom>
          <a:solidFill>
            <a:srgbClr val="FFFFFF">
              <a:alpha val="100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6477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5D52"/>
                </a:solidFill>
                <a:latin typeface="Poppins"/>
                <a:ea typeface="Poppins"/>
                <a:cs typeface="Poppins"/>
                <a:sym typeface="Poppins"/>
              </a:rPr>
              <a:t>Entity Relationship Logic</a:t>
            </a:r>
            <a:endParaRPr lang="en-US" sz="1100"/>
          </a:p>
        </p:txBody>
      </p:sp>
      <p:sp>
        <p:nvSpPr>
          <p:cNvPr id="23" name="AutoShape 23"/>
          <p:cNvSpPr/>
          <p:nvPr/>
        </p:nvSpPr>
        <p:spPr>
          <a:xfrm>
            <a:off x="6477000" y="2286000"/>
            <a:ext cx="4699000" cy="1206500"/>
          </a:xfrm>
          <a:prstGeom prst="roundRect">
            <a:avLst>
              <a:gd name="adj" fmla="val 842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7500" y="2540000"/>
            <a:ext cx="635000" cy="635000"/>
          </a:xfrm>
          <a:prstGeom prst="rect">
            <a:avLst/>
          </a:prstGeom>
        </p:spPr>
      </p:pic>
      <p:sp>
        <p:nvSpPr>
          <p:cNvPr id="25" name="AutoShape 25"/>
          <p:cNvSpPr/>
          <p:nvPr/>
        </p:nvSpPr>
        <p:spPr>
          <a:xfrm>
            <a:off x="7493000" y="24384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Poppins"/>
                <a:ea typeface="Poppins"/>
                <a:cs typeface="Poppins"/>
                <a:sym typeface="Poppins"/>
              </a:rPr>
              <a:t>Many-to-Many (Books ↔ Authors)</a:t>
            </a:r>
            <a:endParaRPr lang="en-US" sz="1100"/>
          </a:p>
        </p:txBody>
      </p:sp>
      <p:sp>
        <p:nvSpPr>
          <p:cNvPr id="26" name="AutoShape 26"/>
          <p:cNvSpPr/>
          <p:nvPr/>
        </p:nvSpPr>
        <p:spPr>
          <a:xfrm>
            <a:off x="7493000" y="28194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57575"/>
                </a:solidFill>
                <a:latin typeface="Poppins"/>
                <a:ea typeface="Poppins"/>
                <a:cs typeface="Poppins"/>
                <a:sym typeface="Poppins"/>
              </a:rPr>
              <a:t>A book can have multiple authors, and an author can write multiple books. This is resolved using a junction table in the schema.</a:t>
            </a:r>
            <a:endParaRPr lang="en-US" sz="1100"/>
          </a:p>
        </p:txBody>
      </p:sp>
      <p:sp>
        <p:nvSpPr>
          <p:cNvPr id="27" name="AutoShape 27"/>
          <p:cNvSpPr/>
          <p:nvPr/>
        </p:nvSpPr>
        <p:spPr>
          <a:xfrm>
            <a:off x="6477000" y="3683000"/>
            <a:ext cx="4699000" cy="1206500"/>
          </a:xfrm>
          <a:prstGeom prst="roundRect">
            <a:avLst>
              <a:gd name="adj" fmla="val 842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3937000"/>
            <a:ext cx="635000" cy="635000"/>
          </a:xfrm>
          <a:prstGeom prst="rect">
            <a:avLst/>
          </a:prstGeom>
        </p:spPr>
      </p:pic>
      <p:sp>
        <p:nvSpPr>
          <p:cNvPr id="29" name="AutoShape 29"/>
          <p:cNvSpPr/>
          <p:nvPr/>
        </p:nvSpPr>
        <p:spPr>
          <a:xfrm>
            <a:off x="7493000" y="38354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Poppins"/>
                <a:ea typeface="Poppins"/>
                <a:cs typeface="Poppins"/>
                <a:sym typeface="Poppins"/>
              </a:rPr>
              <a:t>One-to-Many (Users → Ratings)</a:t>
            </a:r>
            <a:endParaRPr lang="en-US" sz="1100"/>
          </a:p>
        </p:txBody>
      </p:sp>
      <p:sp>
        <p:nvSpPr>
          <p:cNvPr id="30" name="AutoShape 30"/>
          <p:cNvSpPr/>
          <p:nvPr/>
        </p:nvSpPr>
        <p:spPr>
          <a:xfrm>
            <a:off x="7493000" y="42164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57575"/>
                </a:solidFill>
                <a:latin typeface="Poppins"/>
                <a:ea typeface="Poppins"/>
                <a:cs typeface="Poppins"/>
                <a:sym typeface="Poppins"/>
              </a:rPr>
              <a:t>A single user can submit multiple ratings, but each individual rating record is associated with exactly one unique user.</a:t>
            </a:r>
            <a:endParaRPr lang="en-US" sz="1100"/>
          </a:p>
        </p:txBody>
      </p:sp>
      <p:sp>
        <p:nvSpPr>
          <p:cNvPr id="31" name="AutoShape 31"/>
          <p:cNvSpPr/>
          <p:nvPr/>
        </p:nvSpPr>
        <p:spPr>
          <a:xfrm>
            <a:off x="6477000" y="5080000"/>
            <a:ext cx="4699000" cy="1143000"/>
          </a:xfrm>
          <a:prstGeom prst="roundRect">
            <a:avLst>
              <a:gd name="adj" fmla="val 888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5334000"/>
            <a:ext cx="635000" cy="635000"/>
          </a:xfrm>
          <a:prstGeom prst="rect">
            <a:avLst/>
          </a:prstGeom>
        </p:spPr>
      </p:pic>
      <p:sp>
        <p:nvSpPr>
          <p:cNvPr id="33" name="AutoShape 33"/>
          <p:cNvSpPr/>
          <p:nvPr/>
        </p:nvSpPr>
        <p:spPr>
          <a:xfrm>
            <a:off x="7493000" y="5207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Poppins"/>
                <a:ea typeface="Poppins"/>
                <a:cs typeface="Poppins"/>
                <a:sym typeface="Poppins"/>
              </a:rPr>
              <a:t>One-to-Many (Books → Ratings)</a:t>
            </a:r>
            <a:endParaRPr lang="en-US" sz="1100"/>
          </a:p>
        </p:txBody>
      </p:sp>
      <p:sp>
        <p:nvSpPr>
          <p:cNvPr id="34" name="AutoShape 34"/>
          <p:cNvSpPr/>
          <p:nvPr/>
        </p:nvSpPr>
        <p:spPr>
          <a:xfrm>
            <a:off x="7493000" y="5588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57575"/>
                </a:solidFill>
                <a:latin typeface="Poppins"/>
                <a:ea typeface="Poppins"/>
                <a:cs typeface="Poppins"/>
                <a:sym typeface="Poppins"/>
              </a:rPr>
              <a:t>A book can accumulate many ratings from different users, while each rating refers to one specific book.</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Recommendation System</a:t>
            </a:r>
            <a:endParaRPr lang="en-US" sz="1100"/>
          </a:p>
        </p:txBody>
      </p:sp>
      <p:sp>
        <p:nvSpPr>
          <p:cNvPr id="3" name="AutoShape 3"/>
          <p:cNvSpPr/>
          <p:nvPr/>
        </p:nvSpPr>
        <p:spPr>
          <a:xfrm>
            <a:off x="762000" y="1397000"/>
            <a:ext cx="3302000" cy="4826000"/>
          </a:xfrm>
          <a:prstGeom prst="roundRect">
            <a:avLst>
              <a:gd name="adj" fmla="val 4615"/>
            </a:avLst>
          </a:prstGeom>
          <a:solidFill>
            <a:srgbClr val="FFFFFF">
              <a:alpha val="100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609600" cy="6096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1803400"/>
            <a:ext cx="304800" cy="304800"/>
          </a:xfrm>
          <a:prstGeom prst="rect">
            <a:avLst/>
          </a:prstGeom>
        </p:spPr>
      </p:pic>
      <p:sp>
        <p:nvSpPr>
          <p:cNvPr id="6" name="AutoShape 6"/>
          <p:cNvSpPr/>
          <p:nvPr/>
        </p:nvSpPr>
        <p:spPr>
          <a:xfrm>
            <a:off x="1778000" y="1752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Core Strategies</a:t>
            </a:r>
            <a:endParaRPr lang="en-US" sz="1100"/>
          </a:p>
        </p:txBody>
      </p:sp>
      <p:cxnSp>
        <p:nvCxnSpPr>
          <p:cNvPr id="7" name="Connector 7"/>
          <p:cNvCxnSpPr/>
          <p:nvPr/>
        </p:nvCxnSpPr>
        <p:spPr>
          <a:xfrm rot="-15626">
            <a:off x="1016014" y="2406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8" name="AutoShape 8"/>
          <p:cNvSpPr/>
          <p:nvPr/>
        </p:nvSpPr>
        <p:spPr>
          <a:xfrm>
            <a:off x="1016000" y="2667000"/>
            <a:ext cx="2794000" cy="1079500"/>
          </a:xfrm>
          <a:prstGeom prst="roundRect">
            <a:avLst>
              <a:gd name="adj" fmla="val 94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794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Popularity-based</a:t>
            </a:r>
            <a:endParaRPr lang="en-US" sz="1100"/>
          </a:p>
        </p:txBody>
      </p:sp>
      <p:sp>
        <p:nvSpPr>
          <p:cNvPr id="10" name="AutoShape 10"/>
          <p:cNvSpPr/>
          <p:nvPr/>
        </p:nvSpPr>
        <p:spPr>
          <a:xfrm>
            <a:off x="1143000" y="3175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57575"/>
                </a:solidFill>
                <a:latin typeface="Poppins"/>
                <a:ea typeface="Poppins"/>
                <a:cs typeface="Poppins"/>
                <a:sym typeface="Poppins"/>
              </a:rPr>
              <a:t>Recommends highly-rated items with sufficient user feedback and interaction counts.</a:t>
            </a:r>
            <a:endParaRPr lang="en-US" sz="1100"/>
          </a:p>
        </p:txBody>
      </p:sp>
      <p:sp>
        <p:nvSpPr>
          <p:cNvPr id="11" name="AutoShape 11"/>
          <p:cNvSpPr/>
          <p:nvPr/>
        </p:nvSpPr>
        <p:spPr>
          <a:xfrm>
            <a:off x="1016000" y="3937000"/>
            <a:ext cx="2794000" cy="1079500"/>
          </a:xfrm>
          <a:prstGeom prst="roundRect">
            <a:avLst>
              <a:gd name="adj" fmla="val 94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43000" y="4064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Poppins"/>
                <a:ea typeface="Poppins"/>
                <a:cs typeface="Poppins"/>
                <a:sym typeface="Poppins"/>
              </a:rPr>
              <a:t>Author-based</a:t>
            </a:r>
            <a:endParaRPr lang="en-US" sz="1100"/>
          </a:p>
        </p:txBody>
      </p:sp>
      <p:sp>
        <p:nvSpPr>
          <p:cNvPr id="13" name="AutoShape 13"/>
          <p:cNvSpPr/>
          <p:nvPr/>
        </p:nvSpPr>
        <p:spPr>
          <a:xfrm>
            <a:off x="1143000" y="4445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57575"/>
                </a:solidFill>
                <a:latin typeface="Poppins"/>
                <a:ea typeface="Poppins"/>
                <a:cs typeface="Poppins"/>
                <a:sym typeface="Poppins"/>
              </a:rPr>
              <a:t>Suggests items written by authors that the target user has explicitly liked or interacted with.</a:t>
            </a:r>
            <a:endParaRPr lang="en-US" sz="1100"/>
          </a:p>
        </p:txBody>
      </p:sp>
      <p:sp>
        <p:nvSpPr>
          <p:cNvPr id="14" name="AutoShape 14"/>
          <p:cNvSpPr/>
          <p:nvPr/>
        </p:nvSpPr>
        <p:spPr>
          <a:xfrm>
            <a:off x="1016000" y="5207000"/>
            <a:ext cx="2794000" cy="762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143000" y="5334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333333"/>
                </a:solidFill>
                <a:latin typeface="Poppins"/>
                <a:ea typeface="Poppins"/>
                <a:cs typeface="Poppins"/>
                <a:sym typeface="Poppins"/>
              </a:rPr>
              <a:t>Collaborative Filtering: </a:t>
            </a:r>
            <a:r>
              <a:rPr lang="en-US" sz="1100" b="0" i="0" u="none" strike="noStrike">
                <a:solidFill>
                  <a:srgbClr val="757575"/>
                </a:solidFill>
                <a:latin typeface="Poppins"/>
                <a:ea typeface="Poppins"/>
                <a:cs typeface="Poppins"/>
                <a:sym typeface="Poppins"/>
              </a:rPr>
              <a:t>Recommends based on user similarity.</a:t>
            </a:r>
            <a:endParaRPr lang="en-US" sz="1100"/>
          </a:p>
        </p:txBody>
      </p:sp>
      <p:sp>
        <p:nvSpPr>
          <p:cNvPr id="16" name="AutoShape 16"/>
          <p:cNvSpPr/>
          <p:nvPr/>
        </p:nvSpPr>
        <p:spPr>
          <a:xfrm>
            <a:off x="4445000" y="1397000"/>
            <a:ext cx="3302000" cy="4826000"/>
          </a:xfrm>
          <a:prstGeom prst="roundRect">
            <a:avLst>
              <a:gd name="adj" fmla="val 4615"/>
            </a:avLst>
          </a:prstGeom>
          <a:solidFill>
            <a:srgbClr val="FFFFFF">
              <a:alpha val="100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7" name="AutoShape 17"/>
          <p:cNvSpPr/>
          <p:nvPr/>
        </p:nvSpPr>
        <p:spPr>
          <a:xfrm>
            <a:off x="4699000" y="1651000"/>
            <a:ext cx="609600" cy="6096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51400" y="1803400"/>
            <a:ext cx="304800" cy="304800"/>
          </a:xfrm>
          <a:prstGeom prst="rect">
            <a:avLst/>
          </a:prstGeom>
        </p:spPr>
      </p:pic>
      <p:sp>
        <p:nvSpPr>
          <p:cNvPr id="19" name="AutoShape 19"/>
          <p:cNvSpPr/>
          <p:nvPr/>
        </p:nvSpPr>
        <p:spPr>
          <a:xfrm>
            <a:off x="5461000" y="1752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Hybrid Logic</a:t>
            </a:r>
            <a:endParaRPr lang="en-US" sz="1100"/>
          </a:p>
        </p:txBody>
      </p:sp>
      <p:cxnSp>
        <p:nvCxnSpPr>
          <p:cNvPr id="20" name="Connector 20"/>
          <p:cNvCxnSpPr/>
          <p:nvPr/>
        </p:nvCxnSpPr>
        <p:spPr>
          <a:xfrm rot="-15626">
            <a:off x="4699014" y="2406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21" name="AutoShape 21"/>
          <p:cNvSpPr/>
          <p:nvPr/>
        </p:nvSpPr>
        <p:spPr>
          <a:xfrm>
            <a:off x="4699000" y="2667000"/>
            <a:ext cx="2794000" cy="1651000"/>
          </a:xfrm>
          <a:prstGeom prst="roundRect">
            <a:avLst>
              <a:gd name="adj" fmla="val 6153"/>
            </a:avLst>
          </a:prstGeom>
          <a:solidFill>
            <a:srgbClr val="ECF0EF">
              <a:alpha val="100000"/>
            </a:srgbClr>
          </a:solidFill>
          <a:ln w="12700" cap="flat" cmpd="sng">
            <a:solidFill>
              <a:srgbClr val="4A5D52">
                <a:alpha val="2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4889500" y="2794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5D52"/>
                </a:solidFill>
                <a:latin typeface="Poppins"/>
                <a:ea typeface="Poppins"/>
                <a:cs typeface="Poppins"/>
                <a:sym typeface="Poppins"/>
              </a:rPr>
              <a:t>Priority Hierarchy</a:t>
            </a:r>
            <a:endParaRPr lang="en-US" sz="1100"/>
          </a:p>
        </p:txBody>
      </p:sp>
      <p:sp>
        <p:nvSpPr>
          <p:cNvPr id="23" name="AutoShape 23"/>
          <p:cNvSpPr/>
          <p:nvPr/>
        </p:nvSpPr>
        <p:spPr>
          <a:xfrm>
            <a:off x="4889500" y="3238500"/>
            <a:ext cx="241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Poppins"/>
                <a:ea typeface="Poppins"/>
                <a:cs typeface="Poppins"/>
                <a:sym typeface="Poppins"/>
              </a:rPr>
              <a:t>Collaborative Filtering</a:t>
            </a:r>
            <a:br>
              <a:rPr lang="en-US" sz="1100" b="0" i="0" u="none" strike="noStrike">
                <a:solidFill>
                  <a:srgbClr val="505050"/>
                </a:solidFill>
                <a:latin typeface="Poppins"/>
                <a:ea typeface="Poppins"/>
                <a:cs typeface="Poppins"/>
                <a:sym typeface="Poppins"/>
              </a:rPr>
            </a:br>
            <a:r>
              <a:rPr lang="en-US" sz="1100" b="0" i="0" u="none" strike="noStrike">
                <a:solidFill>
                  <a:srgbClr val="505050"/>
                </a:solidFill>
                <a:latin typeface="Poppins"/>
                <a:ea typeface="Poppins"/>
                <a:cs typeface="Poppins"/>
                <a:sym typeface="Poppins"/>
              </a:rPr>
              <a:t>&gt; Author-based Strategy</a:t>
            </a:r>
            <a:br>
              <a:rPr lang="en-US" sz="1100" b="0" i="0" u="none" strike="noStrike">
                <a:solidFill>
                  <a:srgbClr val="505050"/>
                </a:solidFill>
                <a:latin typeface="Poppins"/>
                <a:ea typeface="Poppins"/>
                <a:cs typeface="Poppins"/>
                <a:sym typeface="Poppins"/>
              </a:rPr>
            </a:br>
            <a:r>
              <a:rPr lang="en-US" sz="1100" b="0" i="0" u="none" strike="noStrike">
                <a:solidFill>
                  <a:srgbClr val="505050"/>
                </a:solidFill>
                <a:latin typeface="Poppins"/>
                <a:ea typeface="Poppins"/>
                <a:cs typeface="Poppins"/>
                <a:sym typeface="Poppins"/>
              </a:rPr>
              <a:t>&gt; Popularity-based</a:t>
            </a:r>
            <a:endParaRPr lang="en-US" sz="1100"/>
          </a:p>
        </p:txBody>
      </p:sp>
      <p:sp>
        <p:nvSpPr>
          <p:cNvPr id="24" name="AutoShape 24"/>
          <p:cNvSpPr/>
          <p:nvPr/>
        </p:nvSpPr>
        <p:spPr>
          <a:xfrm>
            <a:off x="4699000" y="4572000"/>
            <a:ext cx="2794000" cy="1397000"/>
          </a:xfrm>
          <a:prstGeom prst="roundRect">
            <a:avLst>
              <a:gd name="adj" fmla="val 7272"/>
            </a:avLst>
          </a:prstGeom>
          <a:solidFill>
            <a:srgbClr val="ECF0EF">
              <a:alpha val="100000"/>
            </a:srgbClr>
          </a:solidFill>
          <a:ln w="12700" cap="flat" cmpd="sng">
            <a:solidFill>
              <a:srgbClr val="4A5D52">
                <a:alpha val="2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889500" y="4699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5D52"/>
                </a:solidFill>
                <a:latin typeface="Poppins"/>
                <a:ea typeface="Poppins"/>
                <a:cs typeface="Poppins"/>
                <a:sym typeface="Poppins"/>
              </a:rPr>
              <a:t>Result Deduplication</a:t>
            </a:r>
            <a:endParaRPr lang="en-US" sz="1100"/>
          </a:p>
        </p:txBody>
      </p:sp>
      <p:sp>
        <p:nvSpPr>
          <p:cNvPr id="26" name="AutoShape 26"/>
          <p:cNvSpPr/>
          <p:nvPr/>
        </p:nvSpPr>
        <p:spPr>
          <a:xfrm>
            <a:off x="4889500" y="50800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05050"/>
                </a:solidFill>
                <a:latin typeface="Poppins"/>
                <a:ea typeface="Poppins"/>
                <a:cs typeface="Poppins"/>
                <a:sym typeface="Poppins"/>
              </a:rPr>
              <a:t>Removes redundant items from the combined result set to ensure high diversity.</a:t>
            </a:r>
            <a:endParaRPr lang="en-US" sz="1100"/>
          </a:p>
        </p:txBody>
      </p:sp>
      <p:sp>
        <p:nvSpPr>
          <p:cNvPr id="27" name="AutoShape 27"/>
          <p:cNvSpPr/>
          <p:nvPr/>
        </p:nvSpPr>
        <p:spPr>
          <a:xfrm>
            <a:off x="8128000" y="1397000"/>
            <a:ext cx="3302000" cy="4826000"/>
          </a:xfrm>
          <a:prstGeom prst="roundRect">
            <a:avLst>
              <a:gd name="adj" fmla="val 4615"/>
            </a:avLst>
          </a:prstGeom>
          <a:solidFill>
            <a:srgbClr val="FFFFFF">
              <a:alpha val="100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8" name="AutoShape 28"/>
          <p:cNvSpPr/>
          <p:nvPr/>
        </p:nvSpPr>
        <p:spPr>
          <a:xfrm>
            <a:off x="8382000" y="1651000"/>
            <a:ext cx="609600" cy="609600"/>
          </a:xfrm>
          <a:prstGeom prst="ellipse">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4400" y="1803400"/>
            <a:ext cx="304800" cy="304800"/>
          </a:xfrm>
          <a:prstGeom prst="rect">
            <a:avLst/>
          </a:prstGeom>
        </p:spPr>
      </p:pic>
      <p:sp>
        <p:nvSpPr>
          <p:cNvPr id="30" name="AutoShape 30"/>
          <p:cNvSpPr/>
          <p:nvPr/>
        </p:nvSpPr>
        <p:spPr>
          <a:xfrm>
            <a:off x="9144000" y="1752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5D52"/>
                </a:solidFill>
                <a:latin typeface="Poppins"/>
                <a:ea typeface="Poppins"/>
                <a:cs typeface="Poppins"/>
                <a:sym typeface="Poppins"/>
              </a:rPr>
              <a:t>Core Algorithm</a:t>
            </a:r>
            <a:endParaRPr lang="en-US" sz="1100"/>
          </a:p>
        </p:txBody>
      </p:sp>
      <p:cxnSp>
        <p:nvCxnSpPr>
          <p:cNvPr id="31" name="Connector 31"/>
          <p:cNvCxnSpPr/>
          <p:nvPr/>
        </p:nvCxnSpPr>
        <p:spPr>
          <a:xfrm rot="-15626">
            <a:off x="8382014" y="2406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32" name="AutoShape 32"/>
          <p:cNvSpPr/>
          <p:nvPr/>
        </p:nvSpPr>
        <p:spPr>
          <a:xfrm>
            <a:off x="8382000" y="2794000"/>
            <a:ext cx="2794000" cy="1905000"/>
          </a:xfrm>
          <a:prstGeom prst="roundRect">
            <a:avLst>
              <a:gd name="adj" fmla="val 5333"/>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572500" y="3048000"/>
            <a:ext cx="2413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Poppins"/>
                <a:ea typeface="Poppins"/>
                <a:cs typeface="Poppins"/>
                <a:sym typeface="Poppins"/>
              </a:rPr>
              <a:t>Pearson Correlation</a:t>
            </a:r>
            <a:endParaRPr lang="en-US" sz="1100"/>
          </a:p>
        </p:txBody>
      </p:sp>
      <p:sp>
        <p:nvSpPr>
          <p:cNvPr id="34" name="AutoShape 34"/>
          <p:cNvSpPr/>
          <p:nvPr/>
        </p:nvSpPr>
        <p:spPr>
          <a:xfrm>
            <a:off x="8572500" y="3683000"/>
            <a:ext cx="2413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200" b="0" i="0" u="none" strike="noStrike">
                <a:solidFill>
                  <a:srgbClr val="E6E6E6"/>
                </a:solidFill>
                <a:latin typeface="Poppins"/>
                <a:ea typeface="Poppins"/>
                <a:cs typeface="Poppins"/>
                <a:sym typeface="Poppins"/>
              </a:rPr>
              <a:t>The primary metric used to</a:t>
            </a:r>
            <a:br>
              <a:rPr lang="en-US" sz="1200" b="0" i="0" u="none" strike="noStrike">
                <a:solidFill>
                  <a:srgbClr val="E6E6E6"/>
                </a:solidFill>
                <a:latin typeface="Poppins"/>
                <a:ea typeface="Poppins"/>
                <a:cs typeface="Poppins"/>
                <a:sym typeface="Poppins"/>
              </a:rPr>
            </a:br>
            <a:r>
              <a:rPr lang="en-US" sz="1200" b="0" i="0" u="none" strike="noStrike">
                <a:solidFill>
                  <a:srgbClr val="E6E6E6"/>
                </a:solidFill>
                <a:latin typeface="Poppins"/>
                <a:ea typeface="Poppins"/>
                <a:cs typeface="Poppins"/>
                <a:sym typeface="Poppins"/>
              </a:rPr>
              <a:t>calculate the degree of similarity</a:t>
            </a:r>
            <a:br>
              <a:rPr lang="en-US" sz="1200" b="0" i="0" u="none" strike="noStrike">
                <a:solidFill>
                  <a:srgbClr val="E6E6E6"/>
                </a:solidFill>
                <a:latin typeface="Poppins"/>
                <a:ea typeface="Poppins"/>
                <a:cs typeface="Poppins"/>
                <a:sym typeface="Poppins"/>
              </a:rPr>
            </a:br>
            <a:r>
              <a:rPr lang="en-US" sz="1200" b="0" i="0" u="none" strike="noStrike">
                <a:solidFill>
                  <a:srgbClr val="E6E6E6"/>
                </a:solidFill>
                <a:latin typeface="Poppins"/>
                <a:ea typeface="Poppins"/>
                <a:cs typeface="Poppins"/>
                <a:sym typeface="Poppins"/>
              </a:rPr>
              <a:t>between user rating vectors.</a:t>
            </a:r>
            <a:endParaRPr lang="en-US" sz="1200" b="0" i="0" u="none" strike="noStrike">
              <a:solidFill>
                <a:srgbClr val="E6E6E6"/>
              </a:solidFill>
              <a:latin typeface="Poppins"/>
              <a:ea typeface="Poppins"/>
              <a:cs typeface="Poppins"/>
              <a:sym typeface="Poppins"/>
            </a:endParaRPr>
          </a:p>
        </p:txBody>
      </p:sp>
      <p:sp>
        <p:nvSpPr>
          <p:cNvPr id="35" name="AutoShape 35"/>
          <p:cNvSpPr/>
          <p:nvPr/>
        </p:nvSpPr>
        <p:spPr>
          <a:xfrm>
            <a:off x="8382000" y="4953000"/>
            <a:ext cx="2794000" cy="1016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8572500" y="50800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1" i="0" u="none" strike="noStrike">
                <a:solidFill>
                  <a:srgbClr val="333333"/>
                </a:solidFill>
                <a:latin typeface="Poppins"/>
                <a:ea typeface="Poppins"/>
                <a:cs typeface="Poppins"/>
                <a:sym typeface="Poppins"/>
              </a:rPr>
              <a:t>Why Pearson?: </a:t>
            </a:r>
            <a:r>
              <a:rPr lang="en-US" sz="1100" b="0" i="0" u="none" strike="noStrike">
                <a:solidFill>
                  <a:srgbClr val="757575"/>
                </a:solidFill>
                <a:latin typeface="Poppins"/>
                <a:ea typeface="Poppins"/>
                <a:cs typeface="Poppins"/>
                <a:sym typeface="Poppins"/>
              </a:rPr>
              <a:t>Effectively handles variations in individual user rating scales.</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Technical Report Highlights</a:t>
            </a:r>
            <a:endParaRPr lang="en-US" sz="1100"/>
          </a:p>
        </p:txBody>
      </p:sp>
      <p:sp>
        <p:nvSpPr>
          <p:cNvPr id="3" name="AutoShape 3"/>
          <p:cNvSpPr/>
          <p:nvPr/>
        </p:nvSpPr>
        <p:spPr>
          <a:xfrm>
            <a:off x="762000" y="1397000"/>
            <a:ext cx="5334000" cy="4826000"/>
          </a:xfrm>
          <a:prstGeom prst="roundRect">
            <a:avLst>
              <a:gd name="adj" fmla="val 3157"/>
            </a:avLst>
          </a:prstGeom>
          <a:solidFill>
            <a:srgbClr val="FFFFFF">
              <a:alpha val="100000"/>
            </a:srgbClr>
          </a:solidFill>
          <a:ln w="25400" cap="flat" cmpd="sng">
            <a:noFill/>
            <a:prstDash val="solid"/>
            <a:round/>
          </a:ln>
          <a:effectLst>
            <a:outerShdw blurRad="254000" dist="762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5D52"/>
                </a:solidFill>
                <a:latin typeface="Poppins"/>
                <a:ea typeface="Poppins"/>
                <a:cs typeface="Poppins"/>
                <a:sym typeface="Poppins"/>
              </a:rPr>
              <a:t>Core Key Points</a:t>
            </a:r>
            <a:endParaRPr lang="en-US" sz="1100"/>
          </a:p>
        </p:txBody>
      </p:sp>
      <p:sp>
        <p:nvSpPr>
          <p:cNvPr id="5" name="AutoShape 5"/>
          <p:cNvSpPr/>
          <p:nvPr/>
        </p:nvSpPr>
        <p:spPr>
          <a:xfrm>
            <a:off x="1016000" y="2286000"/>
            <a:ext cx="2286000" cy="1143000"/>
          </a:xfrm>
          <a:prstGeom prst="roundRect">
            <a:avLst>
              <a:gd name="adj" fmla="val 8888"/>
            </a:avLst>
          </a:prstGeom>
          <a:solidFill>
            <a:srgbClr val="E8EA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540000"/>
            <a:ext cx="457200" cy="457200"/>
          </a:xfrm>
          <a:prstGeom prst="rect">
            <a:avLst/>
          </a:prstGeom>
        </p:spPr>
      </p:pic>
      <p:sp>
        <p:nvSpPr>
          <p:cNvPr id="7" name="AutoShape 7"/>
          <p:cNvSpPr/>
          <p:nvPr/>
        </p:nvSpPr>
        <p:spPr>
          <a:xfrm>
            <a:off x="1778000" y="2476500"/>
            <a:ext cx="152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Tech Stack</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Rationale for choices</a:t>
            </a:r>
            <a:endParaRPr lang="en-US" sz="1100"/>
          </a:p>
        </p:txBody>
      </p:sp>
      <p:sp>
        <p:nvSpPr>
          <p:cNvPr id="8" name="AutoShape 8"/>
          <p:cNvSpPr/>
          <p:nvPr/>
        </p:nvSpPr>
        <p:spPr>
          <a:xfrm>
            <a:off x="3556000" y="2286000"/>
            <a:ext cx="2286000" cy="1143000"/>
          </a:xfrm>
          <a:prstGeom prst="roundRect">
            <a:avLst>
              <a:gd name="adj" fmla="val 8888"/>
            </a:avLst>
          </a:prstGeom>
          <a:solidFill>
            <a:srgbClr val="E8EA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6500" y="2540000"/>
            <a:ext cx="457200" cy="457200"/>
          </a:xfrm>
          <a:prstGeom prst="rect">
            <a:avLst/>
          </a:prstGeom>
        </p:spPr>
      </p:pic>
      <p:sp>
        <p:nvSpPr>
          <p:cNvPr id="10" name="AutoShape 10"/>
          <p:cNvSpPr/>
          <p:nvPr/>
        </p:nvSpPr>
        <p:spPr>
          <a:xfrm>
            <a:off x="4318000" y="2476500"/>
            <a:ext cx="152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Architecture</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design layout</a:t>
            </a:r>
            <a:endParaRPr lang="en-US" sz="1100"/>
          </a:p>
        </p:txBody>
      </p:sp>
      <p:sp>
        <p:nvSpPr>
          <p:cNvPr id="11" name="AutoShape 11"/>
          <p:cNvSpPr/>
          <p:nvPr/>
        </p:nvSpPr>
        <p:spPr>
          <a:xfrm>
            <a:off x="1016000" y="3683000"/>
            <a:ext cx="2286000" cy="1143000"/>
          </a:xfrm>
          <a:prstGeom prst="roundRect">
            <a:avLst>
              <a:gd name="adj" fmla="val 8888"/>
            </a:avLst>
          </a:prstGeom>
          <a:solidFill>
            <a:srgbClr val="E8EA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3937000"/>
            <a:ext cx="457200" cy="457200"/>
          </a:xfrm>
          <a:prstGeom prst="rect">
            <a:avLst/>
          </a:prstGeom>
        </p:spPr>
      </p:pic>
      <p:sp>
        <p:nvSpPr>
          <p:cNvPr id="13" name="AutoShape 13"/>
          <p:cNvSpPr/>
          <p:nvPr/>
        </p:nvSpPr>
        <p:spPr>
          <a:xfrm>
            <a:off x="1778000" y="3873500"/>
            <a:ext cx="152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Model</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Implementation logic</a:t>
            </a:r>
            <a:endParaRPr lang="en-US" sz="1100"/>
          </a:p>
        </p:txBody>
      </p:sp>
      <p:sp>
        <p:nvSpPr>
          <p:cNvPr id="14" name="AutoShape 14"/>
          <p:cNvSpPr/>
          <p:nvPr/>
        </p:nvSpPr>
        <p:spPr>
          <a:xfrm>
            <a:off x="3556000" y="3683000"/>
            <a:ext cx="2286000" cy="1143000"/>
          </a:xfrm>
          <a:prstGeom prst="roundRect">
            <a:avLst>
              <a:gd name="adj" fmla="val 8888"/>
            </a:avLst>
          </a:prstGeom>
          <a:solidFill>
            <a:srgbClr val="E8EA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46500" y="3937000"/>
            <a:ext cx="457200" cy="457200"/>
          </a:xfrm>
          <a:prstGeom prst="rect">
            <a:avLst/>
          </a:prstGeom>
        </p:spPr>
      </p:pic>
      <p:sp>
        <p:nvSpPr>
          <p:cNvPr id="16" name="AutoShape 16"/>
          <p:cNvSpPr/>
          <p:nvPr/>
        </p:nvSpPr>
        <p:spPr>
          <a:xfrm>
            <a:off x="4318000" y="3873500"/>
            <a:ext cx="152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Algorithms</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Recommendation system</a:t>
            </a:r>
            <a:endParaRPr lang="en-US" sz="1100"/>
          </a:p>
        </p:txBody>
      </p:sp>
      <p:sp>
        <p:nvSpPr>
          <p:cNvPr id="17" name="AutoShape 17"/>
          <p:cNvSpPr/>
          <p:nvPr/>
        </p:nvSpPr>
        <p:spPr>
          <a:xfrm>
            <a:off x="1016000" y="5080000"/>
            <a:ext cx="2286000" cy="1016000"/>
          </a:xfrm>
          <a:prstGeom prst="roundRect">
            <a:avLst>
              <a:gd name="adj" fmla="val 10000"/>
            </a:avLst>
          </a:prstGeom>
          <a:solidFill>
            <a:srgbClr val="E8EA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06500" y="5334000"/>
            <a:ext cx="406400" cy="406400"/>
          </a:xfrm>
          <a:prstGeom prst="rect">
            <a:avLst/>
          </a:prstGeom>
        </p:spPr>
      </p:pic>
      <p:sp>
        <p:nvSpPr>
          <p:cNvPr id="19" name="AutoShape 19"/>
          <p:cNvSpPr/>
          <p:nvPr/>
        </p:nvSpPr>
        <p:spPr>
          <a:xfrm>
            <a:off x="1778000" y="52705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GenAI Usage</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Ethics &amp; declaration</a:t>
            </a:r>
            <a:endParaRPr lang="en-US" sz="1100"/>
          </a:p>
        </p:txBody>
      </p:sp>
      <p:sp>
        <p:nvSpPr>
          <p:cNvPr id="20" name="AutoShape 20"/>
          <p:cNvSpPr/>
          <p:nvPr/>
        </p:nvSpPr>
        <p:spPr>
          <a:xfrm>
            <a:off x="3556000" y="5080000"/>
            <a:ext cx="2286000" cy="1016000"/>
          </a:xfrm>
          <a:prstGeom prst="roundRect">
            <a:avLst>
              <a:gd name="adj" fmla="val 10000"/>
            </a:avLst>
          </a:prstGeom>
          <a:solidFill>
            <a:srgbClr val="E8EA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746500" y="5334000"/>
            <a:ext cx="406400" cy="406400"/>
          </a:xfrm>
          <a:prstGeom prst="rect">
            <a:avLst/>
          </a:prstGeom>
        </p:spPr>
      </p:pic>
      <p:sp>
        <p:nvSpPr>
          <p:cNvPr id="22" name="AutoShape 22"/>
          <p:cNvSpPr/>
          <p:nvPr/>
        </p:nvSpPr>
        <p:spPr>
          <a:xfrm>
            <a:off x="4318000" y="52705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Sources</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Licensing &amp; origin</a:t>
            </a:r>
            <a:endParaRPr lang="en-US" sz="1100"/>
          </a:p>
        </p:txBody>
      </p:sp>
      <p:sp>
        <p:nvSpPr>
          <p:cNvPr id="23" name="AutoShape 23"/>
          <p:cNvSpPr/>
          <p:nvPr/>
        </p:nvSpPr>
        <p:spPr>
          <a:xfrm>
            <a:off x="6350000" y="1397000"/>
            <a:ext cx="4826000" cy="4826000"/>
          </a:xfrm>
          <a:prstGeom prst="roundRect">
            <a:avLst>
              <a:gd name="adj" fmla="val 3157"/>
            </a:avLst>
          </a:prstGeom>
          <a:solidFill>
            <a:srgbClr val="FFFFFF">
              <a:alpha val="100000"/>
            </a:srgbClr>
          </a:solidFill>
          <a:ln w="25400" cap="flat" cmpd="sng">
            <a:noFill/>
            <a:prstDash val="solid"/>
            <a:round/>
          </a:ln>
          <a:effectLst>
            <a:outerShdw blurRad="254000" dist="76200" dir="27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nvSpPr>
        <p:spPr>
          <a:xfrm>
            <a:off x="6604000" y="1651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5D52"/>
                </a:solidFill>
                <a:latin typeface="Poppins"/>
                <a:ea typeface="Poppins"/>
                <a:cs typeface="Poppins"/>
                <a:sym typeface="Poppins"/>
              </a:rPr>
              <a:t>References &amp; Resources</a:t>
            </a:r>
            <a:endParaRPr lang="en-US" sz="1100"/>
          </a:p>
        </p:txBody>
      </p:sp>
      <p:sp>
        <p:nvSpPr>
          <p:cNvPr id="25" name="AutoShape 25"/>
          <p:cNvSpPr/>
          <p:nvPr/>
        </p:nvSpPr>
        <p:spPr>
          <a:xfrm>
            <a:off x="6604000" y="2286000"/>
            <a:ext cx="4318000" cy="1143000"/>
          </a:xfrm>
          <a:prstGeom prst="roundRect">
            <a:avLst>
              <a:gd name="adj" fmla="val 888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858000" y="2603500"/>
            <a:ext cx="508000" cy="508000"/>
          </a:xfrm>
          <a:prstGeom prst="rect">
            <a:avLst/>
          </a:prstGeom>
        </p:spPr>
      </p:pic>
      <p:sp>
        <p:nvSpPr>
          <p:cNvPr id="27" name="AutoShape 27"/>
          <p:cNvSpPr/>
          <p:nvPr/>
        </p:nvSpPr>
        <p:spPr>
          <a:xfrm>
            <a:off x="7620000" y="24765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 Documentation</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Official guide for API development &amp; async support</a:t>
            </a:r>
            <a:endParaRPr lang="en-US" sz="1100"/>
          </a:p>
        </p:txBody>
      </p:sp>
      <p:sp>
        <p:nvSpPr>
          <p:cNvPr id="28" name="AutoShape 28"/>
          <p:cNvSpPr/>
          <p:nvPr/>
        </p:nvSpPr>
        <p:spPr>
          <a:xfrm>
            <a:off x="6604000" y="3683000"/>
            <a:ext cx="4318000" cy="1143000"/>
          </a:xfrm>
          <a:prstGeom prst="roundRect">
            <a:avLst>
              <a:gd name="adj" fmla="val 888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858000" y="4000500"/>
            <a:ext cx="508000" cy="508000"/>
          </a:xfrm>
          <a:prstGeom prst="rect">
            <a:avLst/>
          </a:prstGeom>
        </p:spPr>
      </p:pic>
      <p:sp>
        <p:nvSpPr>
          <p:cNvPr id="30" name="AutoShape 30"/>
          <p:cNvSpPr/>
          <p:nvPr/>
        </p:nvSpPr>
        <p:spPr>
          <a:xfrm>
            <a:off x="7620000" y="38735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SQLAlchemy Core Docs</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ORM &amp; database modeling best practices</a:t>
            </a:r>
            <a:endParaRPr lang="en-US" sz="1100"/>
          </a:p>
        </p:txBody>
      </p:sp>
      <p:sp>
        <p:nvSpPr>
          <p:cNvPr id="31" name="AutoShape 31"/>
          <p:cNvSpPr/>
          <p:nvPr/>
        </p:nvSpPr>
        <p:spPr>
          <a:xfrm>
            <a:off x="6604000" y="5080000"/>
            <a:ext cx="4318000" cy="1016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858000" y="5334000"/>
            <a:ext cx="508000" cy="508000"/>
          </a:xfrm>
          <a:prstGeom prst="rect">
            <a:avLst/>
          </a:prstGeom>
        </p:spPr>
      </p:pic>
      <p:sp>
        <p:nvSpPr>
          <p:cNvPr id="33" name="AutoShape 33"/>
          <p:cNvSpPr/>
          <p:nvPr/>
        </p:nvSpPr>
        <p:spPr>
          <a:xfrm>
            <a:off x="7620000" y="5207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GoodBooks-10K Dataset</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71717A"/>
                </a:solidFill>
                <a:latin typeface="Noto Sans SC" panose="020B0200000000000000" charset="-122"/>
                <a:ea typeface="Noto Sans SC" panose="020B0200000000000000" charset="-122"/>
                <a:cs typeface="Noto Sans SC" panose="020B0200000000000000" charset="-122"/>
                <a:sym typeface="Noto Sans SC" panose="020B0200000000000000" charset="-122"/>
              </a:rPr>
              <a:t>Primary source for training data</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Deployment &amp; Testing</a:t>
            </a:r>
            <a:endParaRPr lang="en-US" sz="1100"/>
          </a:p>
        </p:txBody>
      </p:sp>
      <p:sp>
        <p:nvSpPr>
          <p:cNvPr id="3" name="AutoShape 3"/>
          <p:cNvSpPr/>
          <p:nvPr/>
        </p:nvSpPr>
        <p:spPr>
          <a:xfrm>
            <a:off x="762000" y="1397000"/>
            <a:ext cx="3302000" cy="4826000"/>
          </a:xfrm>
          <a:prstGeom prst="roundRect">
            <a:avLst>
              <a:gd name="adj" fmla="val 6153"/>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3302000" cy="1143000"/>
          </a:xfrm>
          <a:prstGeom prst="roundRect">
            <a:avLst>
              <a:gd name="adj" fmla="val 17777"/>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6" name="AutoShape 6"/>
          <p:cNvSpPr/>
          <p:nvPr/>
        </p:nvSpPr>
        <p:spPr>
          <a:xfrm>
            <a:off x="1778000" y="1752600"/>
            <a:ext cx="203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Poppins"/>
                <a:ea typeface="Poppins"/>
                <a:cs typeface="Poppins"/>
                <a:sym typeface="Poppins"/>
              </a:rPr>
              <a:t>Deployment</a:t>
            </a:r>
            <a:endParaRPr lang="en-US" sz="1100"/>
          </a:p>
        </p:txBody>
      </p:sp>
      <p:sp>
        <p:nvSpPr>
          <p:cNvPr id="7" name="AutoShape 7"/>
          <p:cNvSpPr/>
          <p:nvPr/>
        </p:nvSpPr>
        <p:spPr>
          <a:xfrm>
            <a:off x="1016000" y="2794000"/>
            <a:ext cx="2794000" cy="889000"/>
          </a:xfrm>
          <a:prstGeom prst="roundRect">
            <a:avLst>
              <a:gd name="adj" fmla="val 14285"/>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2921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DEPLOYMENT PLATFORM</a:t>
            </a:r>
            <a:endParaRPr lang="en-US" sz="1100"/>
          </a:p>
        </p:txBody>
      </p:sp>
      <p:sp>
        <p:nvSpPr>
          <p:cNvPr id="9" name="AutoShape 9"/>
          <p:cNvSpPr/>
          <p:nvPr/>
        </p:nvSpPr>
        <p:spPr>
          <a:xfrm>
            <a:off x="1206500" y="3238500"/>
            <a:ext cx="2413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Railway</a:t>
            </a:r>
            <a:r>
              <a:rPr lang="en-US"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016000" y="3937000"/>
            <a:ext cx="2794000" cy="1143000"/>
          </a:xfrm>
          <a:prstGeom prst="roundRect">
            <a:avLst>
              <a:gd name="adj" fmla="val 11111"/>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206500" y="4064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ACCESSIBLE ENDPOINT</a:t>
            </a:r>
            <a:endParaRPr lang="en-US" sz="1100"/>
          </a:p>
        </p:txBody>
      </p:sp>
      <p:sp>
        <p:nvSpPr>
          <p:cNvPr id="12" name="AutoShape 12"/>
          <p:cNvSpPr/>
          <p:nvPr/>
        </p:nvSpPr>
        <p:spPr>
          <a:xfrm>
            <a:off x="1206500" y="43815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https://book-metadata-production.up.railway.app</a:t>
            </a:r>
            <a:endParaRPr lang="en-US" sz="1100"/>
          </a:p>
        </p:txBody>
      </p:sp>
      <p:sp>
        <p:nvSpPr>
          <p:cNvPr id="13" name="AutoShape 13"/>
          <p:cNvSpPr/>
          <p:nvPr/>
        </p:nvSpPr>
        <p:spPr>
          <a:xfrm>
            <a:off x="1016000" y="5334000"/>
            <a:ext cx="2794000" cy="762000"/>
          </a:xfrm>
          <a:prstGeom prst="roundRect">
            <a:avLst>
              <a:gd name="adj" fmla="val 16666"/>
            </a:avLst>
          </a:prstGeom>
          <a:solidFill>
            <a:srgbClr val="EBF5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206500" y="5588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5D52"/>
                </a:solidFill>
                <a:latin typeface="Noto Sans SC" panose="020B0200000000000000" charset="-122"/>
                <a:ea typeface="Noto Sans SC" panose="020B0200000000000000" charset="-122"/>
                <a:cs typeface="Noto Sans SC" panose="020B0200000000000000" charset="-122"/>
                <a:sym typeface="Noto Sans SC" panose="020B0200000000000000" charset="-122"/>
              </a:rPr>
              <a:t>● Successfully Deployed</a:t>
            </a:r>
            <a:endParaRPr lang="en-US" sz="1100"/>
          </a:p>
        </p:txBody>
      </p:sp>
      <p:sp>
        <p:nvSpPr>
          <p:cNvPr id="15" name="AutoShape 15"/>
          <p:cNvSpPr/>
          <p:nvPr/>
        </p:nvSpPr>
        <p:spPr>
          <a:xfrm>
            <a:off x="4445000" y="1397000"/>
            <a:ext cx="3302000" cy="4826000"/>
          </a:xfrm>
          <a:prstGeom prst="roundRect">
            <a:avLst>
              <a:gd name="adj" fmla="val 6153"/>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6" name="AutoShape 16"/>
          <p:cNvSpPr/>
          <p:nvPr/>
        </p:nvSpPr>
        <p:spPr>
          <a:xfrm>
            <a:off x="4445000" y="1397000"/>
            <a:ext cx="3302000" cy="1143000"/>
          </a:xfrm>
          <a:prstGeom prst="roundRect">
            <a:avLst>
              <a:gd name="adj" fmla="val 17777"/>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14500"/>
            <a:ext cx="508000" cy="508000"/>
          </a:xfrm>
          <a:prstGeom prst="rect">
            <a:avLst/>
          </a:prstGeom>
        </p:spPr>
      </p:pic>
      <p:sp>
        <p:nvSpPr>
          <p:cNvPr id="18" name="AutoShape 18"/>
          <p:cNvSpPr/>
          <p:nvPr/>
        </p:nvSpPr>
        <p:spPr>
          <a:xfrm>
            <a:off x="5461000" y="1752600"/>
            <a:ext cx="203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Poppins"/>
                <a:ea typeface="Poppins"/>
                <a:cs typeface="Poppins"/>
                <a:sym typeface="Poppins"/>
              </a:rPr>
              <a:t>Test Results</a:t>
            </a:r>
            <a:endParaRPr lang="en-US" sz="1100"/>
          </a:p>
        </p:txBody>
      </p:sp>
      <p:sp>
        <p:nvSpPr>
          <p:cNvPr id="19" name="AutoShape 19"/>
          <p:cNvSpPr/>
          <p:nvPr/>
        </p:nvSpPr>
        <p:spPr>
          <a:xfrm>
            <a:off x="4699000" y="2794000"/>
            <a:ext cx="1333500" cy="1143000"/>
          </a:xfrm>
          <a:prstGeom prst="roundRect">
            <a:avLst>
              <a:gd name="adj" fmla="val 11111"/>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699000" y="2984500"/>
            <a:ext cx="13335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4A5D52"/>
                </a:solidFill>
                <a:latin typeface="Poppins"/>
                <a:ea typeface="Poppins"/>
                <a:cs typeface="Poppins"/>
                <a:sym typeface="Poppins"/>
              </a:rPr>
              <a:t>10</a:t>
            </a:r>
            <a:endParaRPr lang="en-US" sz="1100"/>
          </a:p>
        </p:txBody>
      </p:sp>
      <p:sp>
        <p:nvSpPr>
          <p:cNvPr id="21" name="AutoShape 21"/>
          <p:cNvSpPr/>
          <p:nvPr/>
        </p:nvSpPr>
        <p:spPr>
          <a:xfrm>
            <a:off x="4699000" y="3556000"/>
            <a:ext cx="13335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Total Cases</a:t>
            </a:r>
            <a:endParaRPr lang="en-US" sz="1100"/>
          </a:p>
        </p:txBody>
      </p:sp>
      <p:sp>
        <p:nvSpPr>
          <p:cNvPr id="22" name="AutoShape 22"/>
          <p:cNvSpPr/>
          <p:nvPr/>
        </p:nvSpPr>
        <p:spPr>
          <a:xfrm>
            <a:off x="6286500" y="2794000"/>
            <a:ext cx="1333500" cy="1143000"/>
          </a:xfrm>
          <a:prstGeom prst="roundRect">
            <a:avLst>
              <a:gd name="adj" fmla="val 11111"/>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286500" y="2984500"/>
            <a:ext cx="13335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chemeClr val="accent6"/>
                </a:solidFill>
                <a:latin typeface="Poppins"/>
                <a:ea typeface="Poppins"/>
                <a:cs typeface="Poppins"/>
                <a:sym typeface="Poppins"/>
              </a:rPr>
              <a:t>100%</a:t>
            </a:r>
            <a:endParaRPr lang="en-US" sz="3200" b="1" i="0" u="none" strike="noStrike">
              <a:solidFill>
                <a:schemeClr val="accent6"/>
              </a:solidFill>
              <a:latin typeface="Poppins"/>
              <a:ea typeface="Poppins"/>
              <a:cs typeface="Poppins"/>
              <a:sym typeface="Poppins"/>
            </a:endParaRPr>
          </a:p>
        </p:txBody>
      </p:sp>
      <p:sp>
        <p:nvSpPr>
          <p:cNvPr id="24" name="AutoShape 24"/>
          <p:cNvSpPr/>
          <p:nvPr/>
        </p:nvSpPr>
        <p:spPr>
          <a:xfrm>
            <a:off x="6286500" y="3556000"/>
            <a:ext cx="13335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Pass Rate</a:t>
            </a:r>
            <a:endParaRPr lang="en-US" sz="1100"/>
          </a:p>
        </p:txBody>
      </p:sp>
      <p:sp>
        <p:nvSpPr>
          <p:cNvPr id="25" name="AutoShape 25"/>
          <p:cNvSpPr/>
          <p:nvPr/>
        </p:nvSpPr>
        <p:spPr>
          <a:xfrm>
            <a:off x="4699000" y="4191000"/>
            <a:ext cx="2794000" cy="1651000"/>
          </a:xfrm>
          <a:prstGeom prst="roundRect">
            <a:avLst>
              <a:gd name="adj" fmla="val 7692"/>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889500" y="4318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COVERED MODULES</a:t>
            </a:r>
            <a:endParaRPr lang="en-US" sz="1100"/>
          </a:p>
        </p:txBody>
      </p:sp>
      <p:sp>
        <p:nvSpPr>
          <p:cNvPr id="27" name="AutoShape 27"/>
          <p:cNvSpPr/>
          <p:nvPr/>
        </p:nvSpPr>
        <p:spPr>
          <a:xfrm>
            <a:off x="4889500" y="4699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CRUD Operations (Data Layer)</a:t>
            </a:r>
            <a:b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User Authentication Flow</a:t>
            </a:r>
            <a:b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AI Recommendation Logic</a:t>
            </a:r>
            <a:endParaRPr lang="en-US" sz="1100"/>
          </a:p>
        </p:txBody>
      </p:sp>
      <p:sp>
        <p:nvSpPr>
          <p:cNvPr id="28" name="AutoShape 28"/>
          <p:cNvSpPr/>
          <p:nvPr/>
        </p:nvSpPr>
        <p:spPr>
          <a:xfrm>
            <a:off x="8128000" y="1397000"/>
            <a:ext cx="3302000" cy="4826000"/>
          </a:xfrm>
          <a:prstGeom prst="roundRect">
            <a:avLst>
              <a:gd name="adj" fmla="val 6153"/>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9" name="AutoShape 29"/>
          <p:cNvSpPr/>
          <p:nvPr/>
        </p:nvSpPr>
        <p:spPr>
          <a:xfrm>
            <a:off x="8128000" y="1397000"/>
            <a:ext cx="3302000" cy="1143000"/>
          </a:xfrm>
          <a:prstGeom prst="roundRect">
            <a:avLst>
              <a:gd name="adj" fmla="val 17777"/>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14500"/>
            <a:ext cx="508000" cy="508000"/>
          </a:xfrm>
          <a:prstGeom prst="rect">
            <a:avLst/>
          </a:prstGeom>
        </p:spPr>
      </p:pic>
      <p:sp>
        <p:nvSpPr>
          <p:cNvPr id="31" name="AutoShape 31"/>
          <p:cNvSpPr/>
          <p:nvPr/>
        </p:nvSpPr>
        <p:spPr>
          <a:xfrm>
            <a:off x="9144000" y="1752600"/>
            <a:ext cx="203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Poppins"/>
                <a:ea typeface="Poppins"/>
                <a:cs typeface="Poppins"/>
                <a:sym typeface="Poppins"/>
              </a:rPr>
              <a:t>System Health</a:t>
            </a:r>
            <a:endParaRPr lang="en-US" sz="1100"/>
          </a:p>
        </p:txBody>
      </p:sp>
      <p:sp>
        <p:nvSpPr>
          <p:cNvPr id="32" name="AutoShape 32"/>
          <p:cNvSpPr/>
          <p:nvPr/>
        </p:nvSpPr>
        <p:spPr>
          <a:xfrm>
            <a:off x="8382000" y="2794000"/>
            <a:ext cx="2794000" cy="1397000"/>
          </a:xfrm>
          <a:prstGeom prst="roundRect">
            <a:avLst>
              <a:gd name="adj" fmla="val 9090"/>
            </a:avLst>
          </a:prstGeom>
          <a:solidFill>
            <a:srgbClr val="EBF5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382000" y="2984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4A5D52"/>
                </a:solidFill>
                <a:latin typeface="Poppins"/>
                <a:ea typeface="Poppins"/>
                <a:cs typeface="Poppins"/>
                <a:sym typeface="Poppins"/>
              </a:rPr>
              <a:t>NORMAL</a:t>
            </a:r>
            <a:endParaRPr lang="en-US" sz="1100"/>
          </a:p>
        </p:txBody>
      </p:sp>
      <p:sp>
        <p:nvSpPr>
          <p:cNvPr id="34" name="AutoShape 34"/>
          <p:cNvSpPr/>
          <p:nvPr/>
        </p:nvSpPr>
        <p:spPr>
          <a:xfrm>
            <a:off x="8382000" y="3683000"/>
            <a:ext cx="2794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All Core Functions Running</a:t>
            </a:r>
            <a:endParaRPr lang="en-US" sz="1100"/>
          </a:p>
        </p:txBody>
      </p:sp>
      <p:sp>
        <p:nvSpPr>
          <p:cNvPr id="35" name="AutoShape 35"/>
          <p:cNvSpPr/>
          <p:nvPr/>
        </p:nvSpPr>
        <p:spPr>
          <a:xfrm>
            <a:off x="8382000" y="4445000"/>
            <a:ext cx="2794000" cy="1524000"/>
          </a:xfrm>
          <a:prstGeom prst="roundRect">
            <a:avLst>
              <a:gd name="adj" fmla="val 8333"/>
            </a:avLst>
          </a:prstGeom>
          <a:solidFill>
            <a:srgbClr val="F7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8572500" y="4572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 METRICS</a:t>
            </a:r>
            <a:endParaRPr lang="en-US" sz="1100"/>
          </a:p>
        </p:txBody>
      </p:sp>
      <p:sp>
        <p:nvSpPr>
          <p:cNvPr id="37" name="AutoShape 37"/>
          <p:cNvSpPr/>
          <p:nvPr/>
        </p:nvSpPr>
        <p:spPr>
          <a:xfrm>
            <a:off x="8572500" y="4953000"/>
            <a:ext cx="2413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API Latency &lt; 200ms</a:t>
            </a:r>
            <a:b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Zero Critical Errors</a:t>
            </a:r>
            <a:b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Stable DB Connection</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Deliverables</a:t>
            </a:r>
            <a:endParaRPr lang="en-US" sz="1100"/>
          </a:p>
        </p:txBody>
      </p:sp>
      <p:sp>
        <p:nvSpPr>
          <p:cNvPr id="3" name="AutoShape 3"/>
          <p:cNvSpPr/>
          <p:nvPr/>
        </p:nvSpPr>
        <p:spPr>
          <a:xfrm>
            <a:off x="762000" y="1397000"/>
            <a:ext cx="3302000" cy="1778000"/>
          </a:xfrm>
          <a:prstGeom prst="roundRect">
            <a:avLst>
              <a:gd name="adj" fmla="val 8571"/>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889000" cy="889000"/>
          </a:xfrm>
          <a:prstGeom prst="ellipse">
            <a:avLst/>
          </a:prstGeom>
          <a:solidFill>
            <a:srgbClr val="4A5D52">
              <a:alpha val="8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1841500"/>
            <a:ext cx="508000" cy="508000"/>
          </a:xfrm>
          <a:prstGeom prst="rect">
            <a:avLst/>
          </a:prstGeom>
        </p:spPr>
      </p:pic>
      <p:sp>
        <p:nvSpPr>
          <p:cNvPr id="6" name="AutoShape 6"/>
          <p:cNvSpPr/>
          <p:nvPr/>
        </p:nvSpPr>
        <p:spPr>
          <a:xfrm>
            <a:off x="2095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GitHub Repo</a:t>
            </a:r>
            <a:endParaRPr lang="en-US" sz="1100"/>
          </a:p>
        </p:txBody>
      </p:sp>
      <p:sp>
        <p:nvSpPr>
          <p:cNvPr id="7" name="AutoShape 7"/>
          <p:cNvSpPr/>
          <p:nvPr/>
        </p:nvSpPr>
        <p:spPr>
          <a:xfrm>
            <a:off x="2095500" y="2159000"/>
            <a:ext cx="18415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A5A5A"/>
                </a:solidFill>
                <a:latin typeface="Poppins"/>
                <a:ea typeface="Poppins"/>
                <a:cs typeface="Poppins"/>
                <a:sym typeface="Poppins"/>
              </a:rPr>
              <a:t>github.com/zhu0117/Book-Metadata.git</a:t>
            </a:r>
            <a:endParaRPr lang="en-US" sz="1100"/>
          </a:p>
        </p:txBody>
      </p:sp>
      <p:sp>
        <p:nvSpPr>
          <p:cNvPr id="8" name="AutoShape 8"/>
          <p:cNvSpPr/>
          <p:nvPr/>
        </p:nvSpPr>
        <p:spPr>
          <a:xfrm>
            <a:off x="4445000" y="1397000"/>
            <a:ext cx="3302000" cy="1778000"/>
          </a:xfrm>
          <a:prstGeom prst="roundRect">
            <a:avLst>
              <a:gd name="adj" fmla="val 8571"/>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4699000" y="1651000"/>
            <a:ext cx="889000" cy="889000"/>
          </a:xfrm>
          <a:prstGeom prst="ellipse">
            <a:avLst/>
          </a:prstGeom>
          <a:solidFill>
            <a:srgbClr val="4A5D52">
              <a:alpha val="8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9500" y="1841500"/>
            <a:ext cx="508000" cy="508000"/>
          </a:xfrm>
          <a:prstGeom prst="rect">
            <a:avLst/>
          </a:prstGeom>
        </p:spPr>
      </p:pic>
      <p:sp>
        <p:nvSpPr>
          <p:cNvPr id="11" name="AutoShape 11"/>
          <p:cNvSpPr/>
          <p:nvPr/>
        </p:nvSpPr>
        <p:spPr>
          <a:xfrm>
            <a:off x="5778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API Docs</a:t>
            </a:r>
            <a:endParaRPr lang="en-US" sz="1100"/>
          </a:p>
        </p:txBody>
      </p:sp>
      <p:sp>
        <p:nvSpPr>
          <p:cNvPr id="12" name="AutoShape 12"/>
          <p:cNvSpPr/>
          <p:nvPr/>
        </p:nvSpPr>
        <p:spPr>
          <a:xfrm>
            <a:off x="5778500" y="2159000"/>
            <a:ext cx="18415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A5A5A"/>
                </a:solidFill>
                <a:latin typeface="Poppins"/>
                <a:ea typeface="Poppins"/>
                <a:cs typeface="Poppins"/>
                <a:sym typeface="Poppins"/>
              </a:rPr>
              <a:t>/book-metadata-production.up.railway.app/docs</a:t>
            </a:r>
            <a:endParaRPr lang="en-US" sz="1100"/>
          </a:p>
        </p:txBody>
      </p:sp>
      <p:sp>
        <p:nvSpPr>
          <p:cNvPr id="13" name="AutoShape 13"/>
          <p:cNvSpPr/>
          <p:nvPr/>
        </p:nvSpPr>
        <p:spPr>
          <a:xfrm>
            <a:off x="8128000" y="1397000"/>
            <a:ext cx="3302000" cy="1778000"/>
          </a:xfrm>
          <a:prstGeom prst="roundRect">
            <a:avLst>
              <a:gd name="adj" fmla="val 8571"/>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8382000" y="1651000"/>
            <a:ext cx="889000" cy="889000"/>
          </a:xfrm>
          <a:prstGeom prst="ellipse">
            <a:avLst/>
          </a:prstGeom>
          <a:solidFill>
            <a:srgbClr val="4A5D52">
              <a:alpha val="8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72500" y="1841500"/>
            <a:ext cx="508000" cy="508000"/>
          </a:xfrm>
          <a:prstGeom prst="rect">
            <a:avLst/>
          </a:prstGeom>
        </p:spPr>
      </p:pic>
      <p:sp>
        <p:nvSpPr>
          <p:cNvPr id="16" name="AutoShape 16"/>
          <p:cNvSpPr/>
          <p:nvPr/>
        </p:nvSpPr>
        <p:spPr>
          <a:xfrm>
            <a:off x="9461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5D52"/>
                </a:solidFill>
                <a:latin typeface="Poppins"/>
                <a:ea typeface="Poppins"/>
                <a:cs typeface="Poppins"/>
                <a:sym typeface="Poppins"/>
              </a:rPr>
              <a:t>Technical Report</a:t>
            </a:r>
            <a:endParaRPr lang="en-US" sz="1100"/>
          </a:p>
        </p:txBody>
      </p:sp>
      <p:sp>
        <p:nvSpPr>
          <p:cNvPr id="17" name="AutoShape 17"/>
          <p:cNvSpPr/>
          <p:nvPr/>
        </p:nvSpPr>
        <p:spPr>
          <a:xfrm>
            <a:off x="9461500" y="2159000"/>
            <a:ext cx="18415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A5A5A"/>
                </a:solidFill>
                <a:latin typeface="Poppins"/>
                <a:ea typeface="Poppins"/>
                <a:cs typeface="Poppins"/>
                <a:sym typeface="Poppins"/>
              </a:rPr>
              <a:t>File: TECHNICAL_REPORT.md</a:t>
            </a:r>
            <a:br>
              <a:rPr lang="en-US" sz="1200" b="0" i="0" u="none" strike="noStrike">
                <a:solidFill>
                  <a:srgbClr val="5A5A5A"/>
                </a:solidFill>
                <a:latin typeface="Poppins"/>
                <a:ea typeface="Poppins"/>
                <a:cs typeface="Poppins"/>
                <a:sym typeface="Poppins"/>
              </a:rPr>
            </a:br>
            <a:r>
              <a:rPr lang="en-US" sz="1200" b="0" i="0" u="none" strike="noStrike">
                <a:solidFill>
                  <a:srgbClr val="5A5A5A"/>
                </a:solidFill>
                <a:latin typeface="Poppins"/>
                <a:ea typeface="Poppins"/>
                <a:cs typeface="Poppins"/>
                <a:sym typeface="Poppins"/>
              </a:rPr>
              <a:t>Detailed analysis &amp; methodology</a:t>
            </a:r>
            <a:endParaRPr lang="en-US" sz="1100"/>
          </a:p>
        </p:txBody>
      </p:sp>
      <p:sp>
        <p:nvSpPr>
          <p:cNvPr id="18" name="AutoShape 18"/>
          <p:cNvSpPr/>
          <p:nvPr/>
        </p:nvSpPr>
        <p:spPr>
          <a:xfrm>
            <a:off x="762000" y="3556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9" name="AutoShape 19"/>
          <p:cNvSpPr/>
          <p:nvPr/>
        </p:nvSpPr>
        <p:spPr>
          <a:xfrm>
            <a:off x="1016000" y="3873500"/>
            <a:ext cx="762000" cy="762000"/>
          </a:xfrm>
          <a:prstGeom prst="ellipse">
            <a:avLst/>
          </a:prstGeom>
          <a:solidFill>
            <a:srgbClr val="4A5D52">
              <a:alpha val="8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4064000"/>
            <a:ext cx="381000" cy="381000"/>
          </a:xfrm>
          <a:prstGeom prst="rect">
            <a:avLst/>
          </a:prstGeom>
        </p:spPr>
      </p:pic>
      <p:sp>
        <p:nvSpPr>
          <p:cNvPr id="21" name="AutoShape 21"/>
          <p:cNvSpPr/>
          <p:nvPr/>
        </p:nvSpPr>
        <p:spPr>
          <a:xfrm>
            <a:off x="2032000" y="38735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A5D52"/>
                </a:solidFill>
                <a:latin typeface="Poppins"/>
                <a:ea typeface="Poppins"/>
                <a:cs typeface="Poppins"/>
                <a:sym typeface="Poppins"/>
              </a:rPr>
              <a:t>Presentation Slides</a:t>
            </a:r>
            <a:endParaRPr lang="en-US" sz="1100"/>
          </a:p>
        </p:txBody>
      </p:sp>
      <p:sp>
        <p:nvSpPr>
          <p:cNvPr id="22" name="AutoShape 22"/>
          <p:cNvSpPr/>
          <p:nvPr/>
        </p:nvSpPr>
        <p:spPr>
          <a:xfrm>
            <a:off x="2032000" y="4318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A5A5A"/>
                </a:solidFill>
                <a:latin typeface="Poppins"/>
                <a:ea typeface="Poppins"/>
                <a:cs typeface="Poppins"/>
                <a:sym typeface="Poppins"/>
              </a:rPr>
              <a:t>File: PRESENTATION_SLIDES.md (PDF/PPTX export available)</a:t>
            </a:r>
            <a:endParaRPr lang="en-US" sz="1100"/>
          </a:p>
        </p:txBody>
      </p:sp>
      <p:sp>
        <p:nvSpPr>
          <p:cNvPr id="23" name="AutoShape 23"/>
          <p:cNvSpPr/>
          <p:nvPr/>
        </p:nvSpPr>
        <p:spPr>
          <a:xfrm>
            <a:off x="6223000" y="3556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nvSpPr>
        <p:spPr>
          <a:xfrm>
            <a:off x="6477000" y="3873500"/>
            <a:ext cx="762000" cy="762000"/>
          </a:xfrm>
          <a:prstGeom prst="ellipse">
            <a:avLst/>
          </a:prstGeom>
          <a:solidFill>
            <a:srgbClr val="4A5D52">
              <a:alpha val="8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7500" y="4064000"/>
            <a:ext cx="381000" cy="381000"/>
          </a:xfrm>
          <a:prstGeom prst="rect">
            <a:avLst/>
          </a:prstGeom>
        </p:spPr>
      </p:pic>
      <p:sp>
        <p:nvSpPr>
          <p:cNvPr id="26" name="AutoShape 26"/>
          <p:cNvSpPr/>
          <p:nvPr/>
        </p:nvSpPr>
        <p:spPr>
          <a:xfrm>
            <a:off x="7493000" y="38735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A5D52"/>
                </a:solidFill>
                <a:latin typeface="Poppins"/>
                <a:ea typeface="Poppins"/>
                <a:cs typeface="Poppins"/>
                <a:sym typeface="Poppins"/>
              </a:rPr>
              <a:t>Deployed Web Application</a:t>
            </a:r>
            <a:endParaRPr lang="en-US" sz="1100"/>
          </a:p>
        </p:txBody>
      </p:sp>
      <p:sp>
        <p:nvSpPr>
          <p:cNvPr id="27" name="AutoShape 27"/>
          <p:cNvSpPr/>
          <p:nvPr/>
        </p:nvSpPr>
        <p:spPr>
          <a:xfrm>
            <a:off x="7493000" y="4318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A5A5A"/>
                </a:solidFill>
                <a:latin typeface="Poppins"/>
                <a:ea typeface="Poppins"/>
                <a:cs typeface="Poppins"/>
                <a:sym typeface="Poppins"/>
              </a:rPr>
              <a:t>URL: book-metadata-production.up.railway.app</a:t>
            </a:r>
            <a:br>
              <a:rPr lang="en-US" sz="1100" b="0" i="0" u="none" strike="noStrike">
                <a:solidFill>
                  <a:srgbClr val="5A5A5A"/>
                </a:solidFill>
                <a:latin typeface="Poppins"/>
                <a:ea typeface="Poppins"/>
                <a:cs typeface="Poppins"/>
                <a:sym typeface="Poppins"/>
              </a:rPr>
            </a:br>
            <a:r>
              <a:rPr lang="en-US" sz="1100" b="0" i="0" u="none" strike="noStrike">
                <a:solidFill>
                  <a:srgbClr val="5A5A5A"/>
                </a:solidFill>
                <a:latin typeface="Poppins"/>
                <a:ea typeface="Poppins"/>
                <a:cs typeface="Poppins"/>
                <a:sym typeface="Poppins"/>
              </a:rPr>
              <a:t>Fully functional &amp; responsive</a:t>
            </a:r>
            <a:endParaRPr lang="en-US" sz="1100"/>
          </a:p>
        </p:txBody>
      </p:sp>
      <p:sp>
        <p:nvSpPr>
          <p:cNvPr id="28" name="AutoShape 28"/>
          <p:cNvSpPr/>
          <p:nvPr/>
        </p:nvSpPr>
        <p:spPr>
          <a:xfrm>
            <a:off x="762000" y="5334000"/>
            <a:ext cx="10668000" cy="1016000"/>
          </a:xfrm>
          <a:prstGeom prst="roundRect">
            <a:avLst>
              <a:gd name="adj" fmla="val 15000"/>
            </a:avLst>
          </a:prstGeom>
          <a:solidFill>
            <a:srgbClr val="4A5D52">
              <a:alpha val="100000"/>
            </a:srgbClr>
          </a:solidFill>
          <a:ln w="25400" cap="flat" cmpd="sng">
            <a:noFill/>
            <a:prstDash val="solid"/>
            <a:round/>
          </a:ln>
          <a:effectLst>
            <a:outerShdw blurRad="127000" dist="25400" dir="2700000" algn="tl" rotWithShape="0">
              <a:srgbClr val="000000">
                <a:alpha val="12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43000" y="5588000"/>
            <a:ext cx="508000" cy="508000"/>
          </a:xfrm>
          <a:prstGeom prst="rect">
            <a:avLst/>
          </a:prstGeom>
        </p:spPr>
      </p:pic>
      <p:sp>
        <p:nvSpPr>
          <p:cNvPr id="30" name="AutoShape 30"/>
          <p:cNvSpPr/>
          <p:nvPr/>
        </p:nvSpPr>
        <p:spPr>
          <a:xfrm>
            <a:off x="2032000" y="5461000"/>
            <a:ext cx="863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Project Status: Completed</a:t>
            </a:r>
            <a:endParaRPr lang="en-US" sz="1100"/>
          </a:p>
          <a:p>
            <a:pPr indent="0" algn="l">
              <a:lnSpc>
                <a:spcPct val="125000"/>
              </a:lnSpc>
            </a:pPr>
            <a:r>
              <a:rPr lang="en-US" sz="1300" b="0" i="0" u="none" strike="noStrike">
                <a:solidFill>
                  <a:srgbClr val="E6E6E6"/>
                </a:solidFill>
                <a:latin typeface="Poppins"/>
                <a:ea typeface="Poppins"/>
                <a:cs typeface="Poppins"/>
                <a:sym typeface="Poppins"/>
              </a:rPr>
              <a:t>All deliverables are finalized, fully documented, and accessible for review.</a:t>
            </a:r>
            <a:endParaRPr lang="en-US" sz="1300" b="0" i="0" u="none" strike="noStrike">
              <a:solidFill>
                <a:srgbClr val="E6E6E6"/>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5D52"/>
                </a:solidFill>
                <a:latin typeface="Poppins"/>
                <a:ea typeface="Poppins"/>
                <a:cs typeface="Poppins"/>
                <a:sym typeface="Poppins"/>
              </a:rPr>
              <a:t>Conclusion</a:t>
            </a:r>
            <a:endParaRPr lang="en-US" sz="1100"/>
          </a:p>
        </p:txBody>
      </p:sp>
      <p:sp>
        <p:nvSpPr>
          <p:cNvPr id="3" name="AutoShape 3"/>
          <p:cNvSpPr/>
          <p:nvPr/>
        </p:nvSpPr>
        <p:spPr>
          <a:xfrm>
            <a:off x="762000" y="1397000"/>
            <a:ext cx="5207000" cy="4826000"/>
          </a:xfrm>
          <a:prstGeom prst="roundRect">
            <a:avLst>
              <a:gd name="adj" fmla="val 421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207000" cy="1016000"/>
          </a:xfrm>
          <a:prstGeom prst="roundRect">
            <a:avLst>
              <a:gd name="adj" fmla="val 2000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651000"/>
            <a:ext cx="457200" cy="457200"/>
          </a:xfrm>
          <a:prstGeom prst="rect">
            <a:avLst/>
          </a:prstGeom>
        </p:spPr>
      </p:pic>
      <p:sp>
        <p:nvSpPr>
          <p:cNvPr id="6" name="AutoShape 6"/>
          <p:cNvSpPr/>
          <p:nvPr/>
        </p:nvSpPr>
        <p:spPr>
          <a:xfrm>
            <a:off x="1778000" y="1676400"/>
            <a:ext cx="317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Poppins"/>
                <a:ea typeface="Poppins"/>
                <a:cs typeface="Poppins"/>
                <a:sym typeface="Poppins"/>
              </a:rPr>
              <a:t>Project Summary</a:t>
            </a:r>
            <a:endParaRPr lang="en-US" sz="1100"/>
          </a:p>
        </p:txBody>
      </p:sp>
      <p:sp>
        <p:nvSpPr>
          <p:cNvPr id="7" name="AutoShape 7"/>
          <p:cNvSpPr/>
          <p:nvPr/>
        </p:nvSpPr>
        <p:spPr>
          <a:xfrm>
            <a:off x="1016000" y="2667000"/>
            <a:ext cx="4699000" cy="889000"/>
          </a:xfrm>
          <a:prstGeom prst="roundRect">
            <a:avLst>
              <a:gd name="adj" fmla="val 14285"/>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2908300"/>
            <a:ext cx="406400" cy="406400"/>
          </a:xfrm>
          <a:prstGeom prst="rect">
            <a:avLst/>
          </a:prstGeom>
        </p:spPr>
      </p:pic>
      <p:sp>
        <p:nvSpPr>
          <p:cNvPr id="9" name="AutoShape 9"/>
          <p:cNvSpPr/>
          <p:nvPr/>
        </p:nvSpPr>
        <p:spPr>
          <a:xfrm>
            <a:off x="1778000" y="28194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Successfully implemented a comprehensive book metadata management and intelligent recommendation system.</a:t>
            </a:r>
            <a:endParaRPr lang="en-US" sz="1100"/>
          </a:p>
        </p:txBody>
      </p:sp>
      <p:sp>
        <p:nvSpPr>
          <p:cNvPr id="10" name="AutoShape 10"/>
          <p:cNvSpPr/>
          <p:nvPr/>
        </p:nvSpPr>
        <p:spPr>
          <a:xfrm>
            <a:off x="1016000" y="3683000"/>
            <a:ext cx="4699000" cy="889000"/>
          </a:xfrm>
          <a:prstGeom prst="roundRect">
            <a:avLst>
              <a:gd name="adj" fmla="val 14285"/>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3924300"/>
            <a:ext cx="406400" cy="406400"/>
          </a:xfrm>
          <a:prstGeom prst="rect">
            <a:avLst/>
          </a:prstGeom>
        </p:spPr>
      </p:pic>
      <p:sp>
        <p:nvSpPr>
          <p:cNvPr id="12" name="AutoShape 12"/>
          <p:cNvSpPr/>
          <p:nvPr/>
        </p:nvSpPr>
        <p:spPr>
          <a:xfrm>
            <a:off x="1778000" y="38354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Adopted a clean, modular architecture that ensures high code maintainability and quality.</a:t>
            </a:r>
            <a:endParaRPr lang="en-US" sz="1100"/>
          </a:p>
        </p:txBody>
      </p:sp>
      <p:sp>
        <p:nvSpPr>
          <p:cNvPr id="13" name="AutoShape 13"/>
          <p:cNvSpPr/>
          <p:nvPr/>
        </p:nvSpPr>
        <p:spPr>
          <a:xfrm>
            <a:off x="1016000" y="4699000"/>
            <a:ext cx="4699000" cy="889000"/>
          </a:xfrm>
          <a:prstGeom prst="roundRect">
            <a:avLst>
              <a:gd name="adj" fmla="val 14285"/>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4940300"/>
            <a:ext cx="406400" cy="406400"/>
          </a:xfrm>
          <a:prstGeom prst="rect">
            <a:avLst/>
          </a:prstGeom>
        </p:spPr>
      </p:pic>
      <p:sp>
        <p:nvSpPr>
          <p:cNvPr id="15" name="AutoShape 15"/>
          <p:cNvSpPr/>
          <p:nvPr/>
        </p:nvSpPr>
        <p:spPr>
          <a:xfrm>
            <a:off x="1778000" y="48514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Completed full-cycle documentation, rigorous testing, and stable production deployment.</a:t>
            </a:r>
            <a:endParaRPr lang="en-US" sz="1100"/>
          </a:p>
        </p:txBody>
      </p:sp>
      <p:sp>
        <p:nvSpPr>
          <p:cNvPr id="16" name="AutoShape 16"/>
          <p:cNvSpPr/>
          <p:nvPr/>
        </p:nvSpPr>
        <p:spPr>
          <a:xfrm>
            <a:off x="6223000" y="1397000"/>
            <a:ext cx="5207000" cy="4826000"/>
          </a:xfrm>
          <a:prstGeom prst="roundRect">
            <a:avLst>
              <a:gd name="adj" fmla="val 421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6223000" y="1397000"/>
            <a:ext cx="5207000" cy="1016000"/>
          </a:xfrm>
          <a:prstGeom prst="roundRect">
            <a:avLst>
              <a:gd name="adj" fmla="val 20000"/>
            </a:avLst>
          </a:prstGeom>
          <a:solidFill>
            <a:srgbClr val="4A5D5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1651000"/>
            <a:ext cx="457200" cy="457200"/>
          </a:xfrm>
          <a:prstGeom prst="rect">
            <a:avLst/>
          </a:prstGeom>
        </p:spPr>
      </p:pic>
      <p:sp>
        <p:nvSpPr>
          <p:cNvPr id="19" name="AutoShape 19"/>
          <p:cNvSpPr/>
          <p:nvPr/>
        </p:nvSpPr>
        <p:spPr>
          <a:xfrm>
            <a:off x="7239000" y="1676400"/>
            <a:ext cx="317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Poppins"/>
                <a:ea typeface="Poppins"/>
                <a:cs typeface="Poppins"/>
                <a:sym typeface="Poppins"/>
              </a:rPr>
              <a:t>Future Outlook</a:t>
            </a:r>
            <a:endParaRPr lang="en-US" sz="1100"/>
          </a:p>
        </p:txBody>
      </p:sp>
      <p:sp>
        <p:nvSpPr>
          <p:cNvPr id="20" name="AutoShape 20"/>
          <p:cNvSpPr/>
          <p:nvPr/>
        </p:nvSpPr>
        <p:spPr>
          <a:xfrm>
            <a:off x="6477000" y="2667000"/>
            <a:ext cx="4699000" cy="889000"/>
          </a:xfrm>
          <a:prstGeom prst="roundRect">
            <a:avLst>
              <a:gd name="adj" fmla="val 14285"/>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2908300"/>
            <a:ext cx="406400" cy="406400"/>
          </a:xfrm>
          <a:prstGeom prst="rect">
            <a:avLst/>
          </a:prstGeom>
        </p:spPr>
      </p:pic>
      <p:sp>
        <p:nvSpPr>
          <p:cNvPr id="22" name="AutoShape 22"/>
          <p:cNvSpPr/>
          <p:nvPr/>
        </p:nvSpPr>
        <p:spPr>
          <a:xfrm>
            <a:off x="7239000" y="28194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The system architecture has excellent scalability to accommodate increasing data volume.</a:t>
            </a:r>
            <a:endParaRPr lang="en-US" sz="1100"/>
          </a:p>
        </p:txBody>
      </p:sp>
      <p:sp>
        <p:nvSpPr>
          <p:cNvPr id="23" name="AutoShape 23"/>
          <p:cNvSpPr/>
          <p:nvPr/>
        </p:nvSpPr>
        <p:spPr>
          <a:xfrm>
            <a:off x="6477000" y="3683000"/>
            <a:ext cx="4699000" cy="889000"/>
          </a:xfrm>
          <a:prstGeom prst="roundRect">
            <a:avLst>
              <a:gd name="adj" fmla="val 14285"/>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3924300"/>
            <a:ext cx="406400" cy="406400"/>
          </a:xfrm>
          <a:prstGeom prst="rect">
            <a:avLst/>
          </a:prstGeom>
        </p:spPr>
      </p:pic>
      <p:sp>
        <p:nvSpPr>
          <p:cNvPr id="25" name="AutoShape 25"/>
          <p:cNvSpPr/>
          <p:nvPr/>
        </p:nvSpPr>
        <p:spPr>
          <a:xfrm>
            <a:off x="7239000" y="38354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Provides a solid and robust foundation for the development of future advanced features.</a:t>
            </a:r>
            <a:endParaRPr lang="en-US" sz="1100"/>
          </a:p>
        </p:txBody>
      </p:sp>
      <p:sp>
        <p:nvSpPr>
          <p:cNvPr id="26" name="AutoShape 26"/>
          <p:cNvSpPr/>
          <p:nvPr/>
        </p:nvSpPr>
        <p:spPr>
          <a:xfrm>
            <a:off x="6477000" y="4699000"/>
            <a:ext cx="4699000" cy="889000"/>
          </a:xfrm>
          <a:prstGeom prst="roundRect">
            <a:avLst>
              <a:gd name="adj" fmla="val 14285"/>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67500" y="4940300"/>
            <a:ext cx="406400" cy="406400"/>
          </a:xfrm>
          <a:prstGeom prst="rect">
            <a:avLst/>
          </a:prstGeom>
        </p:spPr>
      </p:pic>
      <p:sp>
        <p:nvSpPr>
          <p:cNvPr id="28" name="AutoShape 28"/>
          <p:cNvSpPr/>
          <p:nvPr/>
        </p:nvSpPr>
        <p:spPr>
          <a:xfrm>
            <a:off x="7239000" y="48514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Demonstrates full capabilities in designing and building production-ready RESTful APIs.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A5D5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921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Poppins"/>
                <a:ea typeface="Poppins"/>
                <a:cs typeface="Poppins"/>
                <a:sym typeface="Poppins"/>
              </a:rPr>
              <a:t>Thank you for your attention!</a:t>
            </a:r>
            <a:endParaRPr lang="en-US" sz="1100"/>
          </a:p>
        </p:txBody>
      </p:sp>
      <p:pic>
        <p:nvPicPr>
          <p:cNvPr id="9" name="Picture 9"/>
          <p:cNvPicPr>
            <a:picLocks noChangeAspect="1"/>
          </p:cNvPicPr>
          <p:nvPr/>
        </p:nvPicPr>
        <p:blipFill>
          <a:blip r:embed="rId1"/>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5344</Words>
  <Application>WPS 演示</Application>
  <PresentationFormat/>
  <Paragraphs>279</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13</vt:i4>
      </vt:variant>
    </vt:vector>
  </HeadingPairs>
  <TitlesOfParts>
    <vt:vector size="26" baseType="lpstr">
      <vt:lpstr>Arial</vt:lpstr>
      <vt:lpstr>宋体</vt:lpstr>
      <vt:lpstr>Wingdings</vt:lpstr>
      <vt:lpstr>Arial</vt:lpstr>
      <vt:lpstr>Poppins</vt:lpstr>
      <vt:lpstr>Segoe Print</vt:lpstr>
      <vt:lpstr>Noto Sans SC</vt:lpstr>
      <vt:lpstr>微软雅黑</vt:lpstr>
      <vt:lpstr>Arial Unicode MS</vt:lpstr>
      <vt:lpstr>Poppins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朱</cp:lastModifiedBy>
  <cp:revision>16</cp:revision>
  <dcterms:created xsi:type="dcterms:W3CDTF">2026-04-19T05:09:21Z</dcterms:created>
  <dcterms:modified xsi:type="dcterms:W3CDTF">2026-04-19T06:10:02Z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E466BAD0B7B548C682A3EA306CFD5641_12</vt:lpwstr>
  </property>
  <property fmtid="{D5CDD505-2E9C-101B-9397-08002B2CF9AE}" pid="3" name="KSOProductBuildVer">
    <vt:lpwstr>2052-12.1.0.25225</vt:lpwstr>
  </property>
</Properties>
</file>